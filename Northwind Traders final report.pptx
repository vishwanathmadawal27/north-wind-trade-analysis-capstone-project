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9" r:id="rId3"/>
    <p:sldId id="260" r:id="rId4"/>
    <p:sldId id="257" r:id="rId5"/>
    <p:sldId id="258" r:id="rId6"/>
    <p:sldId id="261" r:id="rId7"/>
    <p:sldId id="262" r:id="rId8"/>
    <p:sldId id="267" r:id="rId9"/>
    <p:sldId id="268" r:id="rId10"/>
    <p:sldId id="263" r:id="rId11"/>
    <p:sldId id="269" r:id="rId12"/>
    <p:sldId id="274" r:id="rId13"/>
    <p:sldId id="264" r:id="rId14"/>
    <p:sldId id="270" r:id="rId15"/>
    <p:sldId id="275" r:id="rId16"/>
    <p:sldId id="265" r:id="rId17"/>
    <p:sldId id="271" r:id="rId18"/>
    <p:sldId id="276" r:id="rId19"/>
    <p:sldId id="266" r:id="rId20"/>
    <p:sldId id="272" r:id="rId21"/>
    <p:sldId id="277" r:id="rId22"/>
    <p:sldId id="273"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C2EC"/>
    <a:srgbClr val="E8D9F3"/>
    <a:srgbClr val="BAD0FC"/>
    <a:srgbClr val="BCD1FC"/>
    <a:srgbClr val="F9FDCF"/>
    <a:srgbClr val="FDEDE9"/>
    <a:srgbClr val="FDF0ED"/>
    <a:srgbClr val="ECF4F1"/>
    <a:srgbClr val="D9F0FB"/>
    <a:srgbClr val="B6E4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1/17/2026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3DEFB-4AC5-BAEB-4F11-CC93CAD626A4}"/>
              </a:ext>
            </a:extLst>
          </p:cNvPr>
          <p:cNvSpPr>
            <a:spLocks noGrp="1"/>
          </p:cNvSpPr>
          <p:nvPr>
            <p:ph type="ctrTitle"/>
          </p:nvPr>
        </p:nvSpPr>
        <p:spPr>
          <a:xfrm>
            <a:off x="2343407" y="1288025"/>
            <a:ext cx="9376646" cy="1750141"/>
          </a:xfrm>
        </p:spPr>
        <p:txBody>
          <a:bodyPr>
            <a:normAutofit/>
          </a:bodyPr>
          <a:lstStyle/>
          <a:p>
            <a:r>
              <a:rPr lang="en-IN" b="1">
                <a:solidFill>
                  <a:schemeClr val="accent6">
                    <a:lumMod val="50000"/>
                  </a:schemeClr>
                </a:solidFill>
              </a:rPr>
              <a:t>Northwind Traders Business Performance Analysis</a:t>
            </a:r>
          </a:p>
        </p:txBody>
      </p:sp>
      <p:sp>
        <p:nvSpPr>
          <p:cNvPr id="5" name="TextBox 4">
            <a:extLst>
              <a:ext uri="{FF2B5EF4-FFF2-40B4-BE49-F238E27FC236}">
                <a16:creationId xmlns:a16="http://schemas.microsoft.com/office/drawing/2014/main" id="{022BFD9C-6ECF-5B81-7603-0ABBD38D086B}"/>
              </a:ext>
            </a:extLst>
          </p:cNvPr>
          <p:cNvSpPr txBox="1"/>
          <p:nvPr/>
        </p:nvSpPr>
        <p:spPr>
          <a:xfrm>
            <a:off x="1602657" y="5087919"/>
            <a:ext cx="6096000" cy="1497589"/>
          </a:xfrm>
          <a:prstGeom prst="rect">
            <a:avLst/>
          </a:prstGeom>
          <a:noFill/>
        </p:spPr>
        <p:txBody>
          <a:bodyPr wrap="square">
            <a:spAutoFit/>
          </a:bodyPr>
          <a:lstStyle/>
          <a:p>
            <a:pPr>
              <a:lnSpc>
                <a:spcPct val="107000"/>
              </a:lnSpc>
              <a:spcAft>
                <a:spcPts val="800"/>
              </a:spcAft>
              <a:buNone/>
            </a:pPr>
            <a:r>
              <a:rPr lang="en-IN" sz="2000" b="1" kern="100">
                <a:effectLst/>
                <a:latin typeface="Calibri" panose="020F0502020204030204" pitchFamily="34" charset="0"/>
                <a:ea typeface="Calibri" panose="020F0502020204030204" pitchFamily="34" charset="0"/>
                <a:cs typeface="Times New Roman" panose="02020603050405020304" pitchFamily="18" charset="0"/>
              </a:rPr>
              <a:t>Prepared by: </a:t>
            </a:r>
            <a:br>
              <a:rPr lang="en-IN" sz="2000" kern="100">
                <a:effectLst/>
                <a:latin typeface="Calibri" panose="020F0502020204030204" pitchFamily="34" charset="0"/>
                <a:ea typeface="Calibri" panose="020F0502020204030204" pitchFamily="34" charset="0"/>
                <a:cs typeface="Times New Roman" panose="02020603050405020304" pitchFamily="18" charset="0"/>
              </a:rPr>
            </a:br>
            <a:r>
              <a:rPr lang="en-IN" sz="20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Vishwanath Madawal</a:t>
            </a:r>
          </a:p>
          <a:p>
            <a:pPr>
              <a:lnSpc>
                <a:spcPct val="107000"/>
              </a:lnSpc>
              <a:spcAft>
                <a:spcPts val="800"/>
              </a:spcAft>
              <a:buNone/>
            </a:pPr>
            <a:r>
              <a:rPr lang="en-IN" sz="2000" b="1" kern="100">
                <a:effectLst/>
                <a:latin typeface="Calibri" panose="020F0502020204030204" pitchFamily="34" charset="0"/>
                <a:ea typeface="Calibri" panose="020F0502020204030204" pitchFamily="34" charset="0"/>
                <a:cs typeface="Times New Roman" panose="02020603050405020304" pitchFamily="18" charset="0"/>
              </a:rPr>
              <a:t>Tools Used:</a:t>
            </a:r>
            <a:br>
              <a:rPr lang="en-IN" sz="2000" kern="100">
                <a:effectLst/>
                <a:latin typeface="Calibri" panose="020F0502020204030204" pitchFamily="34" charset="0"/>
                <a:ea typeface="Calibri" panose="020F0502020204030204" pitchFamily="34" charset="0"/>
                <a:cs typeface="Times New Roman" panose="02020603050405020304" pitchFamily="18" charset="0"/>
              </a:rPr>
            </a:br>
            <a:r>
              <a:rPr lang="en-IN" sz="20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MS Excel | SQL | Power BI</a:t>
            </a:r>
          </a:p>
        </p:txBody>
      </p:sp>
    </p:spTree>
    <p:extLst>
      <p:ext uri="{BB962C8B-B14F-4D97-AF65-F5344CB8AC3E}">
        <p14:creationId xmlns:p14="http://schemas.microsoft.com/office/powerpoint/2010/main" val="3025157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E91E208-8EC8-8B83-7EC8-D09B2291E638}"/>
              </a:ext>
            </a:extLst>
          </p:cNvPr>
          <p:cNvSpPr/>
          <p:nvPr/>
        </p:nvSpPr>
        <p:spPr>
          <a:xfrm>
            <a:off x="3136491" y="196645"/>
            <a:ext cx="8917858" cy="6548284"/>
          </a:xfrm>
          <a:prstGeom prst="rect">
            <a:avLst/>
          </a:prstGeom>
          <a:solidFill>
            <a:srgbClr val="D9F0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B0F63EA4-CDF6-9B52-CBEF-EC406842F5AC}"/>
              </a:ext>
            </a:extLst>
          </p:cNvPr>
          <p:cNvSpPr txBox="1"/>
          <p:nvPr/>
        </p:nvSpPr>
        <p:spPr>
          <a:xfrm>
            <a:off x="3136491" y="196645"/>
            <a:ext cx="9006349" cy="6223050"/>
          </a:xfrm>
          <a:prstGeom prst="rect">
            <a:avLst/>
          </a:prstGeom>
          <a:noFill/>
        </p:spPr>
        <p:txBody>
          <a:bodyPr wrap="square">
            <a:spAutoFit/>
          </a:bodyPr>
          <a:lstStyle/>
          <a:p>
            <a:pPr>
              <a:lnSpc>
                <a:spcPct val="107000"/>
              </a:lnSpc>
              <a:spcAft>
                <a:spcPts val="800"/>
              </a:spcAft>
              <a:buNone/>
            </a:pPr>
            <a:r>
              <a:rPr lang="en-IN" sz="1800" b="1"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Valuable Business Insights</a:t>
            </a:r>
            <a:endParaRPr lang="en-IN" sz="14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a:effectLst/>
                <a:latin typeface="Calibri" panose="020F0502020204030204" pitchFamily="34" charset="0"/>
                <a:ea typeface="Calibri" panose="020F0502020204030204" pitchFamily="34" charset="0"/>
                <a:cs typeface="Times New Roman" panose="02020603050405020304" pitchFamily="18" charset="0"/>
              </a:rPr>
              <a:t>The Northwind Traders Power BI dashboard delivers meaningful insights into the company’s overall business performance by analyzing sales, customers, products, suppliers, and employees. Through interactive visualizations and KPIs, stakeholders gain a clear understanding of revenue trends, high-performing products, key customers, and regional sales distribution. This data-driven approach enables better visibility into operational performance and strategic outcomes.</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b="1"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Improvement Focus</a:t>
            </a:r>
            <a:endParaRPr lang="en-IN" sz="14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a:effectLst/>
                <a:latin typeface="Calibri" panose="020F0502020204030204" pitchFamily="34" charset="0"/>
                <a:ea typeface="Calibri" panose="020F0502020204030204" pitchFamily="34" charset="0"/>
                <a:cs typeface="Times New Roman" panose="02020603050405020304" pitchFamily="18" charset="0"/>
              </a:rPr>
              <a:t>The dashboard helps identify areas requiring improvement by highlighting sales fluctuations, uneven product contributions, and regional performance gaps. Analysis of order volume, average order value, and supplier pricing reveals opportunities to optimize pricing strategies, improve inventory planning, and enhance supplier relationships. These insights support revenue growth and operational efficiency.</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b="1"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Evaluation of Business Effectiveness</a:t>
            </a:r>
            <a:endParaRPr lang="en-IN" sz="14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a:effectLst/>
                <a:latin typeface="Calibri" panose="020F0502020204030204" pitchFamily="34" charset="0"/>
                <a:ea typeface="Calibri" panose="020F0502020204030204" pitchFamily="34" charset="0"/>
                <a:cs typeface="Times New Roman" panose="02020603050405020304" pitchFamily="18" charset="0"/>
              </a:rPr>
              <a:t>By evaluating metrics such as total revenue, order volume, customer count, and employee contribution, the dashboard assesses the effectiveness of business operations. It measures how products, suppliers, and employees contribute to overall performance, allowing management to evaluate efficiency across departments and refine business strategies accordingly.</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C30BD11A-1067-46B8-FB04-955022F0774E}"/>
              </a:ext>
            </a:extLst>
          </p:cNvPr>
          <p:cNvSpPr txBox="1"/>
          <p:nvPr/>
        </p:nvSpPr>
        <p:spPr>
          <a:xfrm>
            <a:off x="363794" y="186813"/>
            <a:ext cx="2684206" cy="461665"/>
          </a:xfrm>
          <a:prstGeom prst="rect">
            <a:avLst/>
          </a:prstGeom>
          <a:noFill/>
        </p:spPr>
        <p:txBody>
          <a:bodyPr wrap="square">
            <a:spAutoFit/>
          </a:bodyPr>
          <a:lstStyle/>
          <a:p>
            <a:r>
              <a:rPr lang="en-IN" sz="2400" b="1">
                <a:solidFill>
                  <a:schemeClr val="accent6">
                    <a:lumMod val="50000"/>
                  </a:schemeClr>
                </a:solidFill>
                <a:effectLst/>
                <a:latin typeface="Calibri" panose="020F0502020204030204" pitchFamily="34" charset="0"/>
                <a:ea typeface="Calibri" panose="020F0502020204030204" pitchFamily="34" charset="0"/>
                <a:cs typeface="Times New Roman" panose="02020603050405020304" pitchFamily="18" charset="0"/>
              </a:rPr>
              <a:t>Northwind Traders </a:t>
            </a:r>
            <a:endParaRPr lang="en-IN" sz="2400">
              <a:solidFill>
                <a:schemeClr val="accent6">
                  <a:lumMod val="50000"/>
                </a:schemeClr>
              </a:solidFill>
            </a:endParaRPr>
          </a:p>
        </p:txBody>
      </p:sp>
      <p:sp>
        <p:nvSpPr>
          <p:cNvPr id="11" name="Rectangle: Rounded Corners 10">
            <a:extLst>
              <a:ext uri="{FF2B5EF4-FFF2-40B4-BE49-F238E27FC236}">
                <a16:creationId xmlns:a16="http://schemas.microsoft.com/office/drawing/2014/main" id="{A1967E12-232C-EF17-DE74-F2EA4A2570C9}"/>
              </a:ext>
            </a:extLst>
          </p:cNvPr>
          <p:cNvSpPr/>
          <p:nvPr/>
        </p:nvSpPr>
        <p:spPr>
          <a:xfrm>
            <a:off x="408039" y="1278193"/>
            <a:ext cx="2182761" cy="68825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C00000"/>
                </a:solidFill>
                <a:latin typeface="Times New Roman" panose="02020603050405020304" pitchFamily="18" charset="0"/>
                <a:cs typeface="Times New Roman" panose="02020603050405020304" pitchFamily="18" charset="0"/>
              </a:rPr>
              <a:t>Customer Analysis</a:t>
            </a:r>
            <a:endParaRPr lang="en-IN" sz="1600">
              <a:solidFill>
                <a:srgbClr val="C00000"/>
              </a:solidFill>
              <a:latin typeface="Times New Roman" panose="02020603050405020304" pitchFamily="18" charset="0"/>
              <a:cs typeface="Times New Roman" panose="02020603050405020304" pitchFamily="18" charset="0"/>
            </a:endParaRPr>
          </a:p>
        </p:txBody>
      </p:sp>
      <p:sp>
        <p:nvSpPr>
          <p:cNvPr id="12" name="Rectangle: Rounded Corners 11">
            <a:extLst>
              <a:ext uri="{FF2B5EF4-FFF2-40B4-BE49-F238E27FC236}">
                <a16:creationId xmlns:a16="http://schemas.microsoft.com/office/drawing/2014/main" id="{88FA8824-1A91-532C-7C4C-13E59D94157C}"/>
              </a:ext>
            </a:extLst>
          </p:cNvPr>
          <p:cNvSpPr/>
          <p:nvPr/>
        </p:nvSpPr>
        <p:spPr>
          <a:xfrm>
            <a:off x="408038" y="2408901"/>
            <a:ext cx="2182761" cy="68825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C00000"/>
                </a:solidFill>
                <a:latin typeface="Times New Roman" panose="02020603050405020304" pitchFamily="18" charset="0"/>
                <a:cs typeface="Times New Roman" panose="02020603050405020304" pitchFamily="18" charset="0"/>
              </a:rPr>
              <a:t>Sales Analysis</a:t>
            </a:r>
            <a:endParaRPr lang="en-IN" sz="1600">
              <a:solidFill>
                <a:srgbClr val="C00000"/>
              </a:solidFill>
              <a:latin typeface="Times New Roman" panose="02020603050405020304" pitchFamily="18" charset="0"/>
              <a:cs typeface="Times New Roman" panose="02020603050405020304" pitchFamily="18" charset="0"/>
            </a:endParaRPr>
          </a:p>
        </p:txBody>
      </p:sp>
      <p:sp>
        <p:nvSpPr>
          <p:cNvPr id="13" name="Rectangle: Rounded Corners 12">
            <a:extLst>
              <a:ext uri="{FF2B5EF4-FFF2-40B4-BE49-F238E27FC236}">
                <a16:creationId xmlns:a16="http://schemas.microsoft.com/office/drawing/2014/main" id="{AC560E05-98B5-0B02-FFAE-229BA296E0B3}"/>
              </a:ext>
            </a:extLst>
          </p:cNvPr>
          <p:cNvSpPr/>
          <p:nvPr/>
        </p:nvSpPr>
        <p:spPr>
          <a:xfrm>
            <a:off x="408039" y="3497825"/>
            <a:ext cx="2182761" cy="68825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C00000"/>
                </a:solidFill>
                <a:latin typeface="Times New Roman" panose="02020603050405020304" pitchFamily="18" charset="0"/>
                <a:cs typeface="Times New Roman" panose="02020603050405020304" pitchFamily="18" charset="0"/>
              </a:rPr>
              <a:t>Product Analysis</a:t>
            </a:r>
            <a:endParaRPr lang="en-IN" sz="1600">
              <a:solidFill>
                <a:srgbClr val="C00000"/>
              </a:solidFill>
              <a:latin typeface="Times New Roman" panose="02020603050405020304" pitchFamily="18" charset="0"/>
              <a:cs typeface="Times New Roman" panose="02020603050405020304" pitchFamily="18" charset="0"/>
            </a:endParaRPr>
          </a:p>
        </p:txBody>
      </p:sp>
      <p:sp>
        <p:nvSpPr>
          <p:cNvPr id="14" name="Rectangle: Rounded Corners 13">
            <a:extLst>
              <a:ext uri="{FF2B5EF4-FFF2-40B4-BE49-F238E27FC236}">
                <a16:creationId xmlns:a16="http://schemas.microsoft.com/office/drawing/2014/main" id="{53C250B0-E3FB-3081-2A8B-3DA6742BE9C3}"/>
              </a:ext>
            </a:extLst>
          </p:cNvPr>
          <p:cNvSpPr/>
          <p:nvPr/>
        </p:nvSpPr>
        <p:spPr>
          <a:xfrm>
            <a:off x="408039" y="4739149"/>
            <a:ext cx="2182761" cy="68825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C00000"/>
                </a:solidFill>
                <a:latin typeface="Times New Roman" panose="02020603050405020304" pitchFamily="18" charset="0"/>
                <a:cs typeface="Times New Roman" panose="02020603050405020304" pitchFamily="18" charset="0"/>
              </a:rPr>
              <a:t>Supplier Analysis</a:t>
            </a:r>
            <a:endParaRPr lang="en-IN" sz="1600">
              <a:solidFill>
                <a:srgbClr val="C00000"/>
              </a:solidFill>
              <a:latin typeface="Times New Roman" panose="02020603050405020304" pitchFamily="18"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AE100DA3-83C2-3E0F-7719-40F61A01B17A}"/>
              </a:ext>
            </a:extLst>
          </p:cNvPr>
          <p:cNvSpPr/>
          <p:nvPr/>
        </p:nvSpPr>
        <p:spPr>
          <a:xfrm>
            <a:off x="408039" y="5869857"/>
            <a:ext cx="2182761" cy="688258"/>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C00000"/>
                </a:solidFill>
                <a:latin typeface="Times New Roman" panose="02020603050405020304" pitchFamily="18" charset="0"/>
                <a:cs typeface="Times New Roman" panose="02020603050405020304" pitchFamily="18" charset="0"/>
              </a:rPr>
              <a:t>Employee Analysis</a:t>
            </a:r>
            <a:endParaRPr lang="en-IN" sz="160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2102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2BA743-2051-63D6-544B-257AF4BB6A2A}"/>
              </a:ext>
            </a:extLst>
          </p:cNvPr>
          <p:cNvSpPr/>
          <p:nvPr/>
        </p:nvSpPr>
        <p:spPr>
          <a:xfrm>
            <a:off x="1907458" y="113070"/>
            <a:ext cx="9930581" cy="6626942"/>
          </a:xfrm>
          <a:prstGeom prst="rect">
            <a:avLst/>
          </a:prstGeom>
          <a:solidFill>
            <a:srgbClr val="D9F0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8EB334B7-A94A-3005-D5F4-6F29A4E2214C}"/>
              </a:ext>
            </a:extLst>
          </p:cNvPr>
          <p:cNvSpPr txBox="1"/>
          <p:nvPr/>
        </p:nvSpPr>
        <p:spPr>
          <a:xfrm>
            <a:off x="1986117" y="113070"/>
            <a:ext cx="9930580" cy="6362383"/>
          </a:xfrm>
          <a:prstGeom prst="rect">
            <a:avLst/>
          </a:prstGeom>
          <a:noFill/>
        </p:spPr>
        <p:txBody>
          <a:bodyPr wrap="square">
            <a:spAutoFit/>
          </a:bodyPr>
          <a:lstStyle/>
          <a:p>
            <a:pPr>
              <a:lnSpc>
                <a:spcPct val="107000"/>
              </a:lnSpc>
              <a:spcAft>
                <a:spcPts val="800"/>
              </a:spcAft>
              <a:buNone/>
            </a:pPr>
            <a:r>
              <a:rPr lang="en-IN" sz="1800" b="1"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Trend Identification</a:t>
            </a:r>
            <a:endParaRPr lang="en-IN" sz="14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a:effectLst/>
                <a:latin typeface="Calibri" panose="020F0502020204030204" pitchFamily="34" charset="0"/>
                <a:ea typeface="Calibri" panose="020F0502020204030204" pitchFamily="34" charset="0"/>
                <a:cs typeface="Times New Roman" panose="02020603050405020304" pitchFamily="18" charset="0"/>
              </a:rPr>
              <a:t>Using historical order and sales data, the dashboard identifies long-term and seasonal trends in revenue and customer demand. It highlights growth patterns over time, peak sales periods, and changing customer purchasing behavior. These trends assist the organization in forecasting demand, planning inventory, and preparing future sales strategies</a:t>
            </a:r>
            <a:endParaRPr lang="en-IN" sz="14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b="1"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Customer &amp; Product Understanding</a:t>
            </a:r>
            <a:endParaRPr lang="en-IN" sz="14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a:effectLst/>
                <a:latin typeface="Calibri" panose="020F0502020204030204" pitchFamily="34" charset="0"/>
                <a:ea typeface="Calibri" panose="020F0502020204030204" pitchFamily="34" charset="0"/>
                <a:cs typeface="Times New Roman" panose="02020603050405020304" pitchFamily="18" charset="0"/>
              </a:rPr>
              <a:t>The analysis provides deep insight into customer distribution, purchasing frequency, and order value patterns. It also identifies top-performing products and categories that contribute significantly to total revenue. This understanding helps the business focus on customer retention, product prioritization, and targeted marketing initiatives.</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b="1"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Supplier &amp; Regional Performance Analysis</a:t>
            </a:r>
            <a:endParaRPr lang="en-IN" sz="14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a:effectLst/>
                <a:latin typeface="Calibri" panose="020F0502020204030204" pitchFamily="34" charset="0"/>
                <a:ea typeface="Calibri" panose="020F0502020204030204" pitchFamily="34" charset="0"/>
                <a:cs typeface="Times New Roman" panose="02020603050405020304" pitchFamily="18" charset="0"/>
              </a:rPr>
              <a:t>Supplier distribution and pricing analysis reveal how different suppliers and regions impact overall sales. Geographic visualizations show revenue concentration across countries, helping the company evaluate regional market performance and optimize supply chain and distribution strategies.</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b="1"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rPr>
              <a:t>Decision-Making Enablement</a:t>
            </a:r>
            <a:endParaRPr lang="en-IN" sz="1400" kern="10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800" kern="100">
                <a:effectLst/>
                <a:latin typeface="Calibri" panose="020F0502020204030204" pitchFamily="34" charset="0"/>
                <a:ea typeface="Calibri" panose="020F0502020204030204" pitchFamily="34" charset="0"/>
                <a:cs typeface="Times New Roman" panose="02020603050405020304" pitchFamily="18" charset="0"/>
              </a:rPr>
              <a:t>The project empowers decision-makers with accurate, timely, and visually intuitive insights. It supports strategic planning, operational improvements, and performance monitoring, ultimately enhancing business agility and long-term profitability.</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1163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35566A3-74EA-1C16-99AC-7D0211C3E8DA}"/>
              </a:ext>
            </a:extLst>
          </p:cNvPr>
          <p:cNvSpPr/>
          <p:nvPr/>
        </p:nvSpPr>
        <p:spPr>
          <a:xfrm>
            <a:off x="2445775" y="530943"/>
            <a:ext cx="9421761" cy="1297858"/>
          </a:xfrm>
          <a:prstGeom prst="rect">
            <a:avLst/>
          </a:prstGeom>
          <a:solidFill>
            <a:srgbClr val="D9F0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en-IN" b="1" kern="100">
                <a:solidFill>
                  <a:srgbClr val="C00000"/>
                </a:solidFill>
                <a:latin typeface="Calibri" panose="020F0502020204030204" pitchFamily="34" charset="0"/>
                <a:ea typeface="Calibri" panose="020F0502020204030204" pitchFamily="34" charset="0"/>
                <a:cs typeface="Times New Roman" panose="02020603050405020304" pitchFamily="18" charset="0"/>
              </a:rPr>
              <a:t>Objective: </a:t>
            </a:r>
            <a:r>
              <a:rPr lang="en-IN" kern="100">
                <a:solidFill>
                  <a:schemeClr val="tx1"/>
                </a:solidFill>
                <a:latin typeface="Calibri" panose="020F0502020204030204" pitchFamily="34" charset="0"/>
                <a:ea typeface="Calibri" panose="020F0502020204030204" pitchFamily="34" charset="0"/>
                <a:cs typeface="Times New Roman" panose="02020603050405020304" pitchFamily="18" charset="0"/>
              </a:rPr>
              <a:t>The objective of this project is to analyze the business performance of Northwind Traders using historical sales data. The analysis focuses on identifying key trends, patterns, and insights related to sales, customers, products, suppliers, and employees.</a:t>
            </a:r>
          </a:p>
          <a:p>
            <a:pPr>
              <a:lnSpc>
                <a:spcPct val="107000"/>
              </a:lnSpc>
              <a:spcAft>
                <a:spcPts val="800"/>
              </a:spcAft>
              <a:buNone/>
            </a:pPr>
            <a:endParaRPr lang="en-IN" sz="1400" kern="100">
              <a:latin typeface="Calibri" panose="020F0502020204030204" pitchFamily="34" charset="0"/>
              <a:ea typeface="Calibri" panose="020F0502020204030204" pitchFamily="34" charset="0"/>
              <a:cs typeface="Times New Roman" panose="02020603050405020304" pitchFamily="18" charset="0"/>
            </a:endParaRPr>
          </a:p>
        </p:txBody>
      </p:sp>
      <p:pic>
        <p:nvPicPr>
          <p:cNvPr id="8" name="Graphic 7" descr="Database with solid fill">
            <a:extLst>
              <a:ext uri="{FF2B5EF4-FFF2-40B4-BE49-F238E27FC236}">
                <a16:creationId xmlns:a16="http://schemas.microsoft.com/office/drawing/2014/main" id="{230BA4C2-B314-9E80-6EB6-BE1F0005AB2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88025" y="530944"/>
            <a:ext cx="1297857" cy="1297857"/>
          </a:xfrm>
          <a:prstGeom prst="rect">
            <a:avLst/>
          </a:prstGeom>
        </p:spPr>
      </p:pic>
      <p:sp>
        <p:nvSpPr>
          <p:cNvPr id="11" name="Rectangle 10">
            <a:extLst>
              <a:ext uri="{FF2B5EF4-FFF2-40B4-BE49-F238E27FC236}">
                <a16:creationId xmlns:a16="http://schemas.microsoft.com/office/drawing/2014/main" id="{14FDEFEA-A597-4247-695F-CE3E06BB8C06}"/>
              </a:ext>
            </a:extLst>
          </p:cNvPr>
          <p:cNvSpPr/>
          <p:nvPr/>
        </p:nvSpPr>
        <p:spPr>
          <a:xfrm>
            <a:off x="2445774" y="2172929"/>
            <a:ext cx="9421761" cy="2585884"/>
          </a:xfrm>
          <a:prstGeom prst="rect">
            <a:avLst/>
          </a:prstGeom>
          <a:solidFill>
            <a:srgbClr val="D9F0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a:solidFill>
                  <a:srgbClr val="C00000"/>
                </a:solidFill>
              </a:rPr>
              <a:t>Analysis Scope</a:t>
            </a:r>
          </a:p>
          <a:p>
            <a:endParaRPr lang="en-IN">
              <a:solidFill>
                <a:srgbClr val="C00000"/>
              </a:solidFill>
            </a:endParaRPr>
          </a:p>
          <a:p>
            <a:pPr marL="285750" lvl="0" indent="-285750">
              <a:buFont typeface="Wingdings" panose="05000000000000000000" pitchFamily="2" charset="2"/>
              <a:buChar char="v"/>
            </a:pPr>
            <a:r>
              <a:rPr lang="en-IN">
                <a:solidFill>
                  <a:schemeClr val="tx1"/>
                </a:solidFill>
                <a:latin typeface="Times New Roman" panose="02020603050405020304" pitchFamily="18" charset="0"/>
                <a:cs typeface="Times New Roman" panose="02020603050405020304" pitchFamily="18" charset="0"/>
              </a:rPr>
              <a:t>Sales performance and revenue trends.</a:t>
            </a:r>
          </a:p>
          <a:p>
            <a:pPr marL="285750" lvl="0" indent="-285750">
              <a:buFont typeface="Wingdings" panose="05000000000000000000" pitchFamily="2" charset="2"/>
              <a:buChar char="v"/>
            </a:pPr>
            <a:r>
              <a:rPr lang="en-IN">
                <a:solidFill>
                  <a:schemeClr val="tx1"/>
                </a:solidFill>
                <a:latin typeface="Times New Roman" panose="02020603050405020304" pitchFamily="18" charset="0"/>
                <a:cs typeface="Times New Roman" panose="02020603050405020304" pitchFamily="18" charset="0"/>
              </a:rPr>
              <a:t>Customer behavior and order patterns.</a:t>
            </a:r>
          </a:p>
          <a:p>
            <a:pPr marL="285750" lvl="0" indent="-285750">
              <a:buFont typeface="Wingdings" panose="05000000000000000000" pitchFamily="2" charset="2"/>
              <a:buChar char="v"/>
            </a:pPr>
            <a:r>
              <a:rPr lang="en-IN">
                <a:solidFill>
                  <a:schemeClr val="tx1"/>
                </a:solidFill>
                <a:latin typeface="Times New Roman" panose="02020603050405020304" pitchFamily="18" charset="0"/>
                <a:cs typeface="Times New Roman" panose="02020603050405020304" pitchFamily="18" charset="0"/>
              </a:rPr>
              <a:t>Product and category contribution.</a:t>
            </a:r>
          </a:p>
          <a:p>
            <a:pPr marL="285750" lvl="0" indent="-285750">
              <a:buFont typeface="Wingdings" panose="05000000000000000000" pitchFamily="2" charset="2"/>
              <a:buChar char="v"/>
            </a:pPr>
            <a:r>
              <a:rPr lang="en-IN">
                <a:solidFill>
                  <a:schemeClr val="tx1"/>
                </a:solidFill>
                <a:latin typeface="Times New Roman" panose="02020603050405020304" pitchFamily="18" charset="0"/>
                <a:cs typeface="Times New Roman" panose="02020603050405020304" pitchFamily="18" charset="0"/>
              </a:rPr>
              <a:t>Supplier and employee performance.</a:t>
            </a:r>
          </a:p>
          <a:p>
            <a:pPr marL="285750" lvl="0" indent="-285750">
              <a:buFont typeface="Wingdings" panose="05000000000000000000" pitchFamily="2" charset="2"/>
              <a:buChar char="v"/>
            </a:pPr>
            <a:r>
              <a:rPr lang="en-IN">
                <a:solidFill>
                  <a:schemeClr val="tx1"/>
                </a:solidFill>
                <a:latin typeface="Times New Roman" panose="02020603050405020304" pitchFamily="18" charset="0"/>
                <a:cs typeface="Times New Roman" panose="02020603050405020304" pitchFamily="18" charset="0"/>
              </a:rPr>
              <a:t>Geographic distribution of revenue.</a:t>
            </a:r>
          </a:p>
          <a:p>
            <a:pPr>
              <a:lnSpc>
                <a:spcPct val="107000"/>
              </a:lnSpc>
              <a:spcAft>
                <a:spcPts val="800"/>
              </a:spcAft>
              <a:buNone/>
            </a:pPr>
            <a:endParaRPr lang="en-IN" sz="1400" kern="100">
              <a:latin typeface="Calibri" panose="020F0502020204030204" pitchFamily="34" charset="0"/>
              <a:ea typeface="Calibri" panose="020F0502020204030204" pitchFamily="34" charset="0"/>
              <a:cs typeface="Times New Roman" panose="02020603050405020304" pitchFamily="18" charset="0"/>
            </a:endParaRPr>
          </a:p>
        </p:txBody>
      </p:sp>
      <p:sp>
        <p:nvSpPr>
          <p:cNvPr id="12" name="Rectangle 11">
            <a:extLst>
              <a:ext uri="{FF2B5EF4-FFF2-40B4-BE49-F238E27FC236}">
                <a16:creationId xmlns:a16="http://schemas.microsoft.com/office/drawing/2014/main" id="{0E695E45-8AA5-A38E-AB0F-AC8B1FAA84F7}"/>
              </a:ext>
            </a:extLst>
          </p:cNvPr>
          <p:cNvSpPr/>
          <p:nvPr/>
        </p:nvSpPr>
        <p:spPr>
          <a:xfrm>
            <a:off x="2445774" y="5048866"/>
            <a:ext cx="9421761" cy="1297858"/>
          </a:xfrm>
          <a:prstGeom prst="rect">
            <a:avLst/>
          </a:prstGeom>
          <a:solidFill>
            <a:srgbClr val="D9F0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07000"/>
              </a:lnSpc>
              <a:spcAft>
                <a:spcPts val="800"/>
              </a:spcAft>
            </a:pPr>
            <a:r>
              <a:rPr lang="en-IN" b="1">
                <a:solidFill>
                  <a:srgbClr val="C00000"/>
                </a:solidFill>
                <a:latin typeface="Times New Roman" panose="02020603050405020304" pitchFamily="18" charset="0"/>
                <a:cs typeface="Times New Roman" panose="02020603050405020304" pitchFamily="18" charset="0"/>
              </a:rPr>
              <a:t>Goal:</a:t>
            </a:r>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To provide a complete overview of business performance and highlight growth opportunities</a:t>
            </a:r>
            <a:endParaRPr lang="en-IN" sz="1400" kern="10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4" name="Graphic 13" descr="Bar chart with solid fill">
            <a:extLst>
              <a:ext uri="{FF2B5EF4-FFF2-40B4-BE49-F238E27FC236}">
                <a16:creationId xmlns:a16="http://schemas.microsoft.com/office/drawing/2014/main" id="{3E214BBA-F3E0-D336-95D4-216D5A4EB59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60206" y="2684207"/>
            <a:ext cx="1297857" cy="1297857"/>
          </a:xfrm>
          <a:prstGeom prst="rect">
            <a:avLst/>
          </a:prstGeom>
        </p:spPr>
      </p:pic>
      <p:pic>
        <p:nvPicPr>
          <p:cNvPr id="16" name="Graphic 15" descr="Gauge with solid fill">
            <a:extLst>
              <a:ext uri="{FF2B5EF4-FFF2-40B4-BE49-F238E27FC236}">
                <a16:creationId xmlns:a16="http://schemas.microsoft.com/office/drawing/2014/main" id="{B8A61B68-2419-E76C-624A-B3C25D83A60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268360" y="4974778"/>
            <a:ext cx="1081548" cy="1352278"/>
          </a:xfrm>
          <a:prstGeom prst="rect">
            <a:avLst/>
          </a:prstGeom>
        </p:spPr>
      </p:pic>
    </p:spTree>
    <p:extLst>
      <p:ext uri="{BB962C8B-B14F-4D97-AF65-F5344CB8AC3E}">
        <p14:creationId xmlns:p14="http://schemas.microsoft.com/office/powerpoint/2010/main" val="2357102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1A337B-3821-280C-B940-3E198E97CFDC}"/>
              </a:ext>
            </a:extLst>
          </p:cNvPr>
          <p:cNvPicPr>
            <a:picLocks noChangeAspect="1"/>
          </p:cNvPicPr>
          <p:nvPr/>
        </p:nvPicPr>
        <p:blipFill>
          <a:blip r:embed="rId2"/>
          <a:stretch>
            <a:fillRect/>
          </a:stretch>
        </p:blipFill>
        <p:spPr>
          <a:xfrm>
            <a:off x="1524000" y="796414"/>
            <a:ext cx="10505075" cy="5897586"/>
          </a:xfrm>
          <a:prstGeom prst="rect">
            <a:avLst/>
          </a:prstGeom>
        </p:spPr>
      </p:pic>
      <p:sp>
        <p:nvSpPr>
          <p:cNvPr id="5" name="TextBox 4">
            <a:extLst>
              <a:ext uri="{FF2B5EF4-FFF2-40B4-BE49-F238E27FC236}">
                <a16:creationId xmlns:a16="http://schemas.microsoft.com/office/drawing/2014/main" id="{FDD5F7AF-A634-E7CD-E35B-B227932EB41E}"/>
              </a:ext>
            </a:extLst>
          </p:cNvPr>
          <p:cNvSpPr txBox="1"/>
          <p:nvPr/>
        </p:nvSpPr>
        <p:spPr>
          <a:xfrm flipH="1">
            <a:off x="1927122" y="164000"/>
            <a:ext cx="1651820" cy="400110"/>
          </a:xfrm>
          <a:prstGeom prst="rect">
            <a:avLst/>
          </a:prstGeom>
          <a:noFill/>
        </p:spPr>
        <p:txBody>
          <a:bodyPr wrap="square" rtlCol="0">
            <a:spAutoFit/>
          </a:bodyPr>
          <a:lstStyle/>
          <a:p>
            <a:r>
              <a:rPr lang="en-US" sz="2000" b="1">
                <a:solidFill>
                  <a:schemeClr val="accent6">
                    <a:lumMod val="50000"/>
                  </a:schemeClr>
                </a:solidFill>
                <a:latin typeface="Times New Roman" panose="02020603050405020304" pitchFamily="18" charset="0"/>
                <a:cs typeface="Times New Roman" panose="02020603050405020304" pitchFamily="18" charset="0"/>
              </a:rPr>
              <a:t>ER Diagram</a:t>
            </a:r>
            <a:endParaRPr lang="en-IN" sz="2000" b="1">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6590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D3D41-E12D-5BCF-3A1F-A6E249D3F2D0}"/>
              </a:ext>
            </a:extLst>
          </p:cNvPr>
          <p:cNvSpPr>
            <a:spLocks noGrp="1"/>
          </p:cNvSpPr>
          <p:nvPr>
            <p:ph type="title"/>
          </p:nvPr>
        </p:nvSpPr>
        <p:spPr>
          <a:xfrm>
            <a:off x="3831789" y="2079284"/>
            <a:ext cx="4948418" cy="1280890"/>
          </a:xfrm>
        </p:spPr>
        <p:txBody>
          <a:bodyPr>
            <a:normAutofit fontScale="90000"/>
          </a:bodyPr>
          <a:lstStyle/>
          <a:p>
            <a:r>
              <a:rPr lang="en-US" sz="4900" b="1">
                <a:solidFill>
                  <a:schemeClr val="accent6">
                    <a:lumMod val="50000"/>
                  </a:schemeClr>
                </a:solidFill>
              </a:rPr>
              <a:t>Power BI Problem</a:t>
            </a:r>
            <a:br>
              <a:rPr lang="en-US" sz="4900" b="1">
                <a:solidFill>
                  <a:schemeClr val="accent6">
                    <a:lumMod val="50000"/>
                  </a:schemeClr>
                </a:solidFill>
              </a:rPr>
            </a:br>
            <a:r>
              <a:rPr lang="en-US" sz="4900" b="1">
                <a:solidFill>
                  <a:schemeClr val="accent6">
                    <a:lumMod val="50000"/>
                  </a:schemeClr>
                </a:solidFill>
              </a:rPr>
              <a:t>Statements</a:t>
            </a:r>
            <a:br>
              <a:rPr lang="en-US" sz="4000" b="1">
                <a:solidFill>
                  <a:schemeClr val="accent6">
                    <a:lumMod val="50000"/>
                  </a:schemeClr>
                </a:solidFill>
              </a:rPr>
            </a:br>
            <a:endParaRPr lang="en-IN" sz="4000" b="1">
              <a:solidFill>
                <a:schemeClr val="accent6">
                  <a:lumMod val="50000"/>
                </a:schemeClr>
              </a:solidFill>
            </a:endParaRPr>
          </a:p>
        </p:txBody>
      </p:sp>
    </p:spTree>
    <p:extLst>
      <p:ext uri="{BB962C8B-B14F-4D97-AF65-F5344CB8AC3E}">
        <p14:creationId xmlns:p14="http://schemas.microsoft.com/office/powerpoint/2010/main" val="1265389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585DC8F-9C40-4A99-BE5C-FDB9E4905F72}"/>
              </a:ext>
            </a:extLst>
          </p:cNvPr>
          <p:cNvPicPr>
            <a:picLocks noChangeAspect="1"/>
          </p:cNvPicPr>
          <p:nvPr/>
        </p:nvPicPr>
        <p:blipFill>
          <a:blip r:embed="rId2"/>
          <a:stretch>
            <a:fillRect/>
          </a:stretch>
        </p:blipFill>
        <p:spPr>
          <a:xfrm>
            <a:off x="879564" y="904615"/>
            <a:ext cx="5706271" cy="2848373"/>
          </a:xfrm>
          <a:prstGeom prst="rect">
            <a:avLst/>
          </a:prstGeom>
        </p:spPr>
      </p:pic>
      <p:pic>
        <p:nvPicPr>
          <p:cNvPr id="11" name="Picture 10">
            <a:extLst>
              <a:ext uri="{FF2B5EF4-FFF2-40B4-BE49-F238E27FC236}">
                <a16:creationId xmlns:a16="http://schemas.microsoft.com/office/drawing/2014/main" id="{E803146B-D9F3-0CA2-087B-5218B299C842}"/>
              </a:ext>
            </a:extLst>
          </p:cNvPr>
          <p:cNvPicPr>
            <a:picLocks noChangeAspect="1"/>
          </p:cNvPicPr>
          <p:nvPr/>
        </p:nvPicPr>
        <p:blipFill>
          <a:blip r:embed="rId3"/>
          <a:stretch>
            <a:fillRect/>
          </a:stretch>
        </p:blipFill>
        <p:spPr>
          <a:xfrm>
            <a:off x="6684309" y="904615"/>
            <a:ext cx="5301214" cy="2902391"/>
          </a:xfrm>
          <a:prstGeom prst="rect">
            <a:avLst/>
          </a:prstGeom>
        </p:spPr>
      </p:pic>
      <p:pic>
        <p:nvPicPr>
          <p:cNvPr id="13" name="Picture 12">
            <a:extLst>
              <a:ext uri="{FF2B5EF4-FFF2-40B4-BE49-F238E27FC236}">
                <a16:creationId xmlns:a16="http://schemas.microsoft.com/office/drawing/2014/main" id="{AD61F4BB-63AF-937C-0B69-9254410E1D8C}"/>
              </a:ext>
            </a:extLst>
          </p:cNvPr>
          <p:cNvPicPr>
            <a:picLocks noChangeAspect="1"/>
          </p:cNvPicPr>
          <p:nvPr/>
        </p:nvPicPr>
        <p:blipFill>
          <a:blip r:embed="rId4"/>
          <a:stretch>
            <a:fillRect/>
          </a:stretch>
        </p:blipFill>
        <p:spPr>
          <a:xfrm>
            <a:off x="879564" y="3955608"/>
            <a:ext cx="8553466" cy="2902392"/>
          </a:xfrm>
          <a:prstGeom prst="rect">
            <a:avLst/>
          </a:prstGeom>
        </p:spPr>
      </p:pic>
      <p:sp>
        <p:nvSpPr>
          <p:cNvPr id="17" name="Rectangle: Rounded Corners 16">
            <a:extLst>
              <a:ext uri="{FF2B5EF4-FFF2-40B4-BE49-F238E27FC236}">
                <a16:creationId xmlns:a16="http://schemas.microsoft.com/office/drawing/2014/main" id="{BBE5F6D5-F688-3760-115B-BCD57D525CA2}"/>
              </a:ext>
            </a:extLst>
          </p:cNvPr>
          <p:cNvSpPr/>
          <p:nvPr/>
        </p:nvSpPr>
        <p:spPr>
          <a:xfrm>
            <a:off x="1696065" y="115047"/>
            <a:ext cx="2182761" cy="688258"/>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accent6">
                    <a:lumMod val="50000"/>
                  </a:schemeClr>
                </a:solidFill>
                <a:latin typeface="Times New Roman" panose="02020603050405020304" pitchFamily="18" charset="0"/>
                <a:cs typeface="Times New Roman" panose="02020603050405020304" pitchFamily="18" charset="0"/>
              </a:rPr>
              <a:t>Customer Analysis</a:t>
            </a:r>
            <a:endParaRPr lang="en-IN" b="1">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8120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801A4-2A73-B8E6-20C7-EEAEC8FCD80B}"/>
              </a:ext>
            </a:extLst>
          </p:cNvPr>
          <p:cNvSpPr>
            <a:spLocks noGrp="1"/>
          </p:cNvSpPr>
          <p:nvPr>
            <p:ph type="title"/>
          </p:nvPr>
        </p:nvSpPr>
        <p:spPr>
          <a:xfrm>
            <a:off x="3291975" y="117986"/>
            <a:ext cx="2538554" cy="432619"/>
          </a:xfrm>
        </p:spPr>
        <p:txBody>
          <a:bodyPr>
            <a:normAutofit fontScale="90000"/>
          </a:bodyPr>
          <a:lstStyle/>
          <a:p>
            <a:r>
              <a:rPr lang="en-IN" sz="1800" b="1">
                <a:solidFill>
                  <a:srgbClr val="C00000"/>
                </a:solidFill>
                <a:latin typeface="Times New Roman" panose="02020603050405020304" pitchFamily="18" charset="0"/>
                <a:cs typeface="Times New Roman" panose="02020603050405020304" pitchFamily="18" charset="0"/>
              </a:rPr>
              <a:t>Customer Analysis</a:t>
            </a:r>
            <a:br>
              <a:rPr lang="en-IN"/>
            </a:br>
            <a:endParaRPr lang="en-IN" sz="1600"/>
          </a:p>
        </p:txBody>
      </p:sp>
      <p:sp>
        <p:nvSpPr>
          <p:cNvPr id="3" name="Content Placeholder 2">
            <a:extLst>
              <a:ext uri="{FF2B5EF4-FFF2-40B4-BE49-F238E27FC236}">
                <a16:creationId xmlns:a16="http://schemas.microsoft.com/office/drawing/2014/main" id="{EE525C76-1478-A2F4-FFF8-580BAEA60BB7}"/>
              </a:ext>
            </a:extLst>
          </p:cNvPr>
          <p:cNvSpPr>
            <a:spLocks noGrp="1"/>
          </p:cNvSpPr>
          <p:nvPr>
            <p:ph idx="1"/>
          </p:nvPr>
        </p:nvSpPr>
        <p:spPr>
          <a:xfrm>
            <a:off x="2229706" y="550605"/>
            <a:ext cx="9578836" cy="6115665"/>
          </a:xfrm>
        </p:spPr>
        <p:txBody>
          <a:bodyPr>
            <a:normAutofit fontScale="92500" lnSpcReduction="20000"/>
          </a:bodyPr>
          <a:lstStyle/>
          <a:p>
            <a:r>
              <a:rPr lang="en-IN" b="1">
                <a:solidFill>
                  <a:srgbClr val="0070C0"/>
                </a:solidFill>
                <a:latin typeface="Times New Roman" panose="02020603050405020304" pitchFamily="18" charset="0"/>
                <a:cs typeface="Times New Roman" panose="02020603050405020304" pitchFamily="18" charset="0"/>
              </a:rPr>
              <a:t>Customer Distribution by Geography</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(Q1: Customer distribution by country/city)</a:t>
            </a:r>
          </a:p>
          <a:p>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The geographic analysis reveals that customers are unevenly distributed across countries and cities. A higher concentration of customers is observed in specific regions, indicating strong market presence and demand in those areas. This insight helps identify core markets as well as regions with potential for business expansion.</a:t>
            </a: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Customer base is concentrated in a few key countries, contributing significantly to total sales.</a:t>
            </a:r>
          </a:p>
          <a:p>
            <a:pPr lvl="0"/>
            <a:r>
              <a:rPr lang="en-IN">
                <a:solidFill>
                  <a:schemeClr val="tx1"/>
                </a:solidFill>
                <a:latin typeface="Times New Roman" panose="02020603050405020304" pitchFamily="18" charset="0"/>
                <a:cs typeface="Times New Roman" panose="02020603050405020304" pitchFamily="18" charset="0"/>
              </a:rPr>
              <a:t>Emerging regions show growth potential for targeted marketing strategies.</a:t>
            </a:r>
          </a:p>
          <a:p>
            <a:endParaRPr lang="en-IN" b="1">
              <a:solidFill>
                <a:schemeClr val="tx1"/>
              </a:solidFill>
              <a:latin typeface="Times New Roman" panose="02020603050405020304" pitchFamily="18" charset="0"/>
              <a:cs typeface="Times New Roman" panose="02020603050405020304" pitchFamily="18" charset="0"/>
            </a:endParaRPr>
          </a:p>
          <a:p>
            <a:r>
              <a:rPr lang="en-IN" b="1">
                <a:solidFill>
                  <a:srgbClr val="0070C0"/>
                </a:solidFill>
                <a:latin typeface="Times New Roman" panose="02020603050405020304" pitchFamily="18" charset="0"/>
                <a:cs typeface="Times New Roman" panose="02020603050405020304" pitchFamily="18" charset="0"/>
              </a:rPr>
              <a:t>Customer Order Trend Over Time</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(Q2: Trend in customer orders over time)</a:t>
            </a:r>
          </a:p>
          <a:p>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The time-based analysis of customer orders shows a generally increasing trend with periodic fluctuations. These fluctuations suggest seasonality in customer purchasing behavior, reflecting demand cycles across different periods.</a:t>
            </a:r>
          </a:p>
          <a:p>
            <a:endParaRPr lang="en-IN">
              <a:solidFill>
                <a:schemeClr val="tx1"/>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Customer engagement has strengthened over time.</a:t>
            </a:r>
          </a:p>
          <a:p>
            <a:pPr lvl="0"/>
            <a:r>
              <a:rPr lang="en-IN">
                <a:solidFill>
                  <a:schemeClr val="tx1"/>
                </a:solidFill>
                <a:latin typeface="Times New Roman" panose="02020603050405020304" pitchFamily="18" charset="0"/>
                <a:cs typeface="Times New Roman" panose="02020603050405020304" pitchFamily="18" charset="0"/>
              </a:rPr>
              <a:t>Seasonal spikes indicate opportunities for promotional campaigns during peak periods.</a:t>
            </a:r>
          </a:p>
          <a:p>
            <a:endParaRPr lang="en-IN" sz="16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7918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04D1F8-753E-1715-3DD5-B81EC2E3FD56}"/>
              </a:ext>
            </a:extLst>
          </p:cNvPr>
          <p:cNvSpPr>
            <a:spLocks noGrp="1"/>
          </p:cNvSpPr>
          <p:nvPr>
            <p:ph idx="1"/>
          </p:nvPr>
        </p:nvSpPr>
        <p:spPr>
          <a:xfrm>
            <a:off x="1651818" y="1160205"/>
            <a:ext cx="10392697" cy="5525729"/>
          </a:xfrm>
        </p:spPr>
        <p:txBody>
          <a:bodyPr/>
          <a:lstStyle/>
          <a:p>
            <a:r>
              <a:rPr lang="en-IN" sz="1600" b="1">
                <a:solidFill>
                  <a:srgbClr val="0070C0"/>
                </a:solidFill>
                <a:latin typeface="Times New Roman" panose="02020603050405020304" pitchFamily="18" charset="0"/>
                <a:cs typeface="Times New Roman" panose="02020603050405020304" pitchFamily="18" charset="0"/>
              </a:rPr>
              <a:t>Customer Distribution by Contact Title / Region</a:t>
            </a:r>
            <a:endParaRPr lang="en-IN" sz="1600">
              <a:solidFill>
                <a:srgbClr val="0070C0"/>
              </a:solidFill>
              <a:latin typeface="Times New Roman" panose="02020603050405020304" pitchFamily="18" charset="0"/>
              <a:cs typeface="Times New Roman" panose="02020603050405020304" pitchFamily="18" charset="0"/>
            </a:endParaRPr>
          </a:p>
          <a:p>
            <a:r>
              <a:rPr lang="en-IN" sz="1600" b="1">
                <a:solidFill>
                  <a:schemeClr val="tx1"/>
                </a:solidFill>
                <a:latin typeface="Times New Roman" panose="02020603050405020304" pitchFamily="18" charset="0"/>
                <a:cs typeface="Times New Roman" panose="02020603050405020304" pitchFamily="18" charset="0"/>
              </a:rPr>
              <a:t>(Q3: Customers by Contact Title or Region)</a:t>
            </a:r>
          </a:p>
          <a:p>
            <a:br>
              <a:rPr lang="en-IN" sz="1600">
                <a:solidFill>
                  <a:schemeClr val="tx1"/>
                </a:solidFill>
                <a:latin typeface="Times New Roman" panose="02020603050405020304" pitchFamily="18" charset="0"/>
                <a:cs typeface="Times New Roman" panose="02020603050405020304" pitchFamily="18" charset="0"/>
              </a:rPr>
            </a:br>
            <a:r>
              <a:rPr lang="en-IN" sz="1600">
                <a:solidFill>
                  <a:schemeClr val="tx1"/>
                </a:solidFill>
                <a:latin typeface="Times New Roman" panose="02020603050405020304" pitchFamily="18" charset="0"/>
                <a:cs typeface="Times New Roman" panose="02020603050405020304" pitchFamily="18" charset="0"/>
              </a:rPr>
              <a:t>This analysis highlights how customers are distributed across different contact titles and regions. Certain contact roles dominate the customer base, indicating the primary decision-makers involved in purchases.</a:t>
            </a:r>
          </a:p>
          <a:p>
            <a:r>
              <a:rPr lang="en-IN" sz="1600" b="1">
                <a:solidFill>
                  <a:schemeClr val="tx1"/>
                </a:solidFill>
                <a:latin typeface="Times New Roman" panose="02020603050405020304" pitchFamily="18" charset="0"/>
                <a:cs typeface="Times New Roman" panose="02020603050405020304" pitchFamily="18" charset="0"/>
              </a:rPr>
              <a:t>Key Insight:</a:t>
            </a:r>
            <a:endParaRPr lang="en-IN" sz="1600">
              <a:solidFill>
                <a:schemeClr val="tx1"/>
              </a:solidFill>
              <a:latin typeface="Times New Roman" panose="02020603050405020304" pitchFamily="18" charset="0"/>
              <a:cs typeface="Times New Roman" panose="02020603050405020304" pitchFamily="18" charset="0"/>
            </a:endParaRPr>
          </a:p>
          <a:p>
            <a:pPr lvl="0"/>
            <a:r>
              <a:rPr lang="en-IN" sz="1600">
                <a:solidFill>
                  <a:schemeClr val="tx1"/>
                </a:solidFill>
                <a:latin typeface="Times New Roman" panose="02020603050405020304" pitchFamily="18" charset="0"/>
                <a:cs typeface="Times New Roman" panose="02020603050405020304" pitchFamily="18" charset="0"/>
              </a:rPr>
              <a:t>A few contact titles account for the majority of orders.</a:t>
            </a:r>
          </a:p>
          <a:p>
            <a:pPr lvl="0"/>
            <a:r>
              <a:rPr lang="en-IN" sz="1600">
                <a:solidFill>
                  <a:schemeClr val="tx1"/>
                </a:solidFill>
                <a:latin typeface="Times New Roman" panose="02020603050405020304" pitchFamily="18" charset="0"/>
                <a:cs typeface="Times New Roman" panose="02020603050405020304" pitchFamily="18" charset="0"/>
              </a:rPr>
              <a:t>Regional distribution suggests variation in customer structure across markets.</a:t>
            </a:r>
          </a:p>
          <a:p>
            <a:endParaRPr lang="en-IN"/>
          </a:p>
        </p:txBody>
      </p:sp>
    </p:spTree>
    <p:extLst>
      <p:ext uri="{BB962C8B-B14F-4D97-AF65-F5344CB8AC3E}">
        <p14:creationId xmlns:p14="http://schemas.microsoft.com/office/powerpoint/2010/main" val="3852476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CFF0D9-2018-73D0-B884-5A7AE6F74779}"/>
              </a:ext>
            </a:extLst>
          </p:cNvPr>
          <p:cNvPicPr>
            <a:picLocks noChangeAspect="1"/>
          </p:cNvPicPr>
          <p:nvPr/>
        </p:nvPicPr>
        <p:blipFill>
          <a:blip r:embed="rId2"/>
          <a:stretch>
            <a:fillRect/>
          </a:stretch>
        </p:blipFill>
        <p:spPr>
          <a:xfrm>
            <a:off x="1610795" y="780904"/>
            <a:ext cx="4337722" cy="2753671"/>
          </a:xfrm>
          <a:prstGeom prst="rect">
            <a:avLst/>
          </a:prstGeom>
        </p:spPr>
      </p:pic>
      <p:pic>
        <p:nvPicPr>
          <p:cNvPr id="5" name="Picture 4">
            <a:extLst>
              <a:ext uri="{FF2B5EF4-FFF2-40B4-BE49-F238E27FC236}">
                <a16:creationId xmlns:a16="http://schemas.microsoft.com/office/drawing/2014/main" id="{EA241781-C217-3B01-8CBF-4F0546A6F33E}"/>
              </a:ext>
            </a:extLst>
          </p:cNvPr>
          <p:cNvPicPr>
            <a:picLocks noChangeAspect="1"/>
          </p:cNvPicPr>
          <p:nvPr/>
        </p:nvPicPr>
        <p:blipFill>
          <a:blip r:embed="rId3"/>
          <a:stretch>
            <a:fillRect/>
          </a:stretch>
        </p:blipFill>
        <p:spPr>
          <a:xfrm>
            <a:off x="7187126" y="675329"/>
            <a:ext cx="3990270" cy="2964822"/>
          </a:xfrm>
          <a:prstGeom prst="rect">
            <a:avLst/>
          </a:prstGeom>
        </p:spPr>
      </p:pic>
      <p:pic>
        <p:nvPicPr>
          <p:cNvPr id="7" name="Picture 6">
            <a:extLst>
              <a:ext uri="{FF2B5EF4-FFF2-40B4-BE49-F238E27FC236}">
                <a16:creationId xmlns:a16="http://schemas.microsoft.com/office/drawing/2014/main" id="{538C3591-63B6-780E-A244-6AE513C2DAC2}"/>
              </a:ext>
            </a:extLst>
          </p:cNvPr>
          <p:cNvPicPr>
            <a:picLocks noChangeAspect="1"/>
          </p:cNvPicPr>
          <p:nvPr/>
        </p:nvPicPr>
        <p:blipFill>
          <a:blip r:embed="rId4"/>
          <a:stretch>
            <a:fillRect/>
          </a:stretch>
        </p:blipFill>
        <p:spPr>
          <a:xfrm>
            <a:off x="1610796" y="3640151"/>
            <a:ext cx="4593360" cy="3102077"/>
          </a:xfrm>
          <a:prstGeom prst="rect">
            <a:avLst/>
          </a:prstGeom>
        </p:spPr>
      </p:pic>
      <p:pic>
        <p:nvPicPr>
          <p:cNvPr id="9" name="Picture 8">
            <a:extLst>
              <a:ext uri="{FF2B5EF4-FFF2-40B4-BE49-F238E27FC236}">
                <a16:creationId xmlns:a16="http://schemas.microsoft.com/office/drawing/2014/main" id="{791FC398-5776-4D2C-C599-76214F129987}"/>
              </a:ext>
            </a:extLst>
          </p:cNvPr>
          <p:cNvPicPr>
            <a:picLocks noChangeAspect="1"/>
          </p:cNvPicPr>
          <p:nvPr/>
        </p:nvPicPr>
        <p:blipFill>
          <a:blip r:embed="rId5"/>
          <a:stretch>
            <a:fillRect/>
          </a:stretch>
        </p:blipFill>
        <p:spPr>
          <a:xfrm>
            <a:off x="6882328" y="3931707"/>
            <a:ext cx="4295068" cy="2810521"/>
          </a:xfrm>
          <a:prstGeom prst="rect">
            <a:avLst/>
          </a:prstGeom>
        </p:spPr>
      </p:pic>
      <p:sp>
        <p:nvSpPr>
          <p:cNvPr id="10" name="Rectangle: Rounded Corners 9">
            <a:extLst>
              <a:ext uri="{FF2B5EF4-FFF2-40B4-BE49-F238E27FC236}">
                <a16:creationId xmlns:a16="http://schemas.microsoft.com/office/drawing/2014/main" id="{D6E0DB67-77BC-C57A-2B4B-17B81CBDA83F}"/>
              </a:ext>
            </a:extLst>
          </p:cNvPr>
          <p:cNvSpPr/>
          <p:nvPr/>
        </p:nvSpPr>
        <p:spPr>
          <a:xfrm>
            <a:off x="1610795" y="39858"/>
            <a:ext cx="2182761" cy="530413"/>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accent6">
                    <a:lumMod val="50000"/>
                  </a:schemeClr>
                </a:solidFill>
                <a:latin typeface="Times New Roman" panose="02020603050405020304" pitchFamily="18" charset="0"/>
                <a:cs typeface="Times New Roman" panose="02020603050405020304" pitchFamily="18" charset="0"/>
              </a:rPr>
              <a:t>Sales Analysis</a:t>
            </a:r>
            <a:endParaRPr lang="en-IN" sz="1600" b="1">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0410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4E242-A135-56C5-5617-F9119AE258FD}"/>
              </a:ext>
            </a:extLst>
          </p:cNvPr>
          <p:cNvSpPr>
            <a:spLocks noGrp="1"/>
          </p:cNvSpPr>
          <p:nvPr>
            <p:ph type="title"/>
          </p:nvPr>
        </p:nvSpPr>
        <p:spPr>
          <a:xfrm>
            <a:off x="1314732" y="0"/>
            <a:ext cx="2510017" cy="477103"/>
          </a:xfrm>
        </p:spPr>
        <p:txBody>
          <a:bodyPr>
            <a:normAutofit fontScale="90000"/>
          </a:bodyPr>
          <a:lstStyle/>
          <a:p>
            <a:r>
              <a:rPr lang="en-IN" sz="1800" b="1">
                <a:solidFill>
                  <a:srgbClr val="C00000"/>
                </a:solidFill>
              </a:rPr>
              <a:t>Sales &amp; Orders Analysis</a:t>
            </a:r>
            <a:br>
              <a:rPr lang="en-IN"/>
            </a:br>
            <a:endParaRPr lang="en-IN"/>
          </a:p>
        </p:txBody>
      </p:sp>
      <p:sp>
        <p:nvSpPr>
          <p:cNvPr id="3" name="Content Placeholder 2">
            <a:extLst>
              <a:ext uri="{FF2B5EF4-FFF2-40B4-BE49-F238E27FC236}">
                <a16:creationId xmlns:a16="http://schemas.microsoft.com/office/drawing/2014/main" id="{9295EDDB-0DE6-5D47-1545-BBC5E8DFE14F}"/>
              </a:ext>
            </a:extLst>
          </p:cNvPr>
          <p:cNvSpPr>
            <a:spLocks noGrp="1"/>
          </p:cNvSpPr>
          <p:nvPr>
            <p:ph idx="1"/>
          </p:nvPr>
        </p:nvSpPr>
        <p:spPr>
          <a:xfrm>
            <a:off x="2251588" y="811160"/>
            <a:ext cx="9163665" cy="6179575"/>
          </a:xfrm>
        </p:spPr>
        <p:txBody>
          <a:bodyPr>
            <a:normAutofit fontScale="32500" lnSpcReduction="20000"/>
          </a:bodyPr>
          <a:lstStyle/>
          <a:p>
            <a:r>
              <a:rPr lang="en-IN" sz="5600" b="1">
                <a:solidFill>
                  <a:srgbClr val="0070C0"/>
                </a:solidFill>
                <a:latin typeface="Times New Roman" panose="02020603050405020304" pitchFamily="18" charset="0"/>
                <a:cs typeface="Times New Roman" panose="02020603050405020304" pitchFamily="18" charset="0"/>
              </a:rPr>
              <a:t>Order Volume Trend</a:t>
            </a:r>
            <a:endParaRPr lang="en-IN" sz="5600">
              <a:solidFill>
                <a:srgbClr val="0070C0"/>
              </a:solidFill>
              <a:latin typeface="Times New Roman" panose="02020603050405020304" pitchFamily="18" charset="0"/>
              <a:cs typeface="Times New Roman" panose="02020603050405020304" pitchFamily="18" charset="0"/>
            </a:endParaRPr>
          </a:p>
          <a:p>
            <a:r>
              <a:rPr lang="en-IN" sz="5600" b="1">
                <a:solidFill>
                  <a:schemeClr val="tx1"/>
                </a:solidFill>
                <a:latin typeface="Times New Roman" panose="02020603050405020304" pitchFamily="18" charset="0"/>
                <a:cs typeface="Times New Roman" panose="02020603050405020304" pitchFamily="18" charset="0"/>
              </a:rPr>
              <a:t>(Q4: Order volume over time)</a:t>
            </a:r>
          </a:p>
          <a:p>
            <a:br>
              <a:rPr lang="en-IN" sz="5600">
                <a:solidFill>
                  <a:schemeClr val="tx1"/>
                </a:solidFill>
                <a:latin typeface="Times New Roman" panose="02020603050405020304" pitchFamily="18" charset="0"/>
                <a:cs typeface="Times New Roman" panose="02020603050405020304" pitchFamily="18" charset="0"/>
              </a:rPr>
            </a:br>
            <a:r>
              <a:rPr lang="en-IN" sz="5600">
                <a:solidFill>
                  <a:schemeClr val="tx1"/>
                </a:solidFill>
                <a:latin typeface="Times New Roman" panose="02020603050405020304" pitchFamily="18" charset="0"/>
                <a:cs typeface="Times New Roman" panose="02020603050405020304" pitchFamily="18" charset="0"/>
              </a:rPr>
              <a:t>The order volume trend demonstrates a steady rise in the number of orders over time, with visible peaks and dips. This pattern reflects business growth while also highlighting periods of higher operational demand.</a:t>
            </a:r>
          </a:p>
          <a:p>
            <a:endParaRPr lang="en-IN" sz="5600">
              <a:solidFill>
                <a:schemeClr val="tx1"/>
              </a:solidFill>
              <a:latin typeface="Times New Roman" panose="02020603050405020304" pitchFamily="18" charset="0"/>
              <a:cs typeface="Times New Roman" panose="02020603050405020304" pitchFamily="18" charset="0"/>
            </a:endParaRPr>
          </a:p>
          <a:p>
            <a:r>
              <a:rPr lang="en-IN" sz="5600" b="1">
                <a:solidFill>
                  <a:schemeClr val="tx1"/>
                </a:solidFill>
                <a:latin typeface="Times New Roman" panose="02020603050405020304" pitchFamily="18" charset="0"/>
                <a:cs typeface="Times New Roman" panose="02020603050405020304" pitchFamily="18" charset="0"/>
              </a:rPr>
              <a:t>Key Insight:</a:t>
            </a:r>
            <a:endParaRPr lang="en-IN" sz="5600">
              <a:solidFill>
                <a:schemeClr val="tx1"/>
              </a:solidFill>
              <a:latin typeface="Times New Roman" panose="02020603050405020304" pitchFamily="18" charset="0"/>
              <a:cs typeface="Times New Roman" panose="02020603050405020304" pitchFamily="18" charset="0"/>
            </a:endParaRPr>
          </a:p>
          <a:p>
            <a:pPr lvl="0"/>
            <a:r>
              <a:rPr lang="en-IN" sz="5600">
                <a:solidFill>
                  <a:schemeClr val="tx1"/>
                </a:solidFill>
                <a:latin typeface="Times New Roman" panose="02020603050405020304" pitchFamily="18" charset="0"/>
                <a:cs typeface="Times New Roman" panose="02020603050405020304" pitchFamily="18" charset="0"/>
              </a:rPr>
              <a:t>Increasing order volume indicates business growth.</a:t>
            </a:r>
          </a:p>
          <a:p>
            <a:pPr lvl="0"/>
            <a:r>
              <a:rPr lang="en-IN" sz="5600">
                <a:solidFill>
                  <a:schemeClr val="tx1"/>
                </a:solidFill>
                <a:latin typeface="Times New Roman" panose="02020603050405020304" pitchFamily="18" charset="0"/>
                <a:cs typeface="Times New Roman" panose="02020603050405020304" pitchFamily="18" charset="0"/>
              </a:rPr>
              <a:t>Order fluctuations align with customer demand cycles.</a:t>
            </a:r>
          </a:p>
          <a:p>
            <a:pPr lvl="0"/>
            <a:endParaRPr lang="en-IN" sz="5600">
              <a:solidFill>
                <a:schemeClr val="tx1"/>
              </a:solidFill>
              <a:latin typeface="Times New Roman" panose="02020603050405020304" pitchFamily="18" charset="0"/>
              <a:cs typeface="Times New Roman" panose="02020603050405020304" pitchFamily="18" charset="0"/>
            </a:endParaRPr>
          </a:p>
          <a:p>
            <a:r>
              <a:rPr lang="en-IN" sz="5600" b="1">
                <a:solidFill>
                  <a:srgbClr val="0070C0"/>
                </a:solidFill>
                <a:latin typeface="Times New Roman" panose="02020603050405020304" pitchFamily="18" charset="0"/>
                <a:cs typeface="Times New Roman" panose="02020603050405020304" pitchFamily="18" charset="0"/>
              </a:rPr>
              <a:t>Distribution of Order Values</a:t>
            </a:r>
            <a:endParaRPr lang="en-IN" sz="5600">
              <a:solidFill>
                <a:srgbClr val="0070C0"/>
              </a:solidFill>
              <a:latin typeface="Times New Roman" panose="02020603050405020304" pitchFamily="18" charset="0"/>
              <a:cs typeface="Times New Roman" panose="02020603050405020304" pitchFamily="18" charset="0"/>
            </a:endParaRPr>
          </a:p>
          <a:p>
            <a:r>
              <a:rPr lang="en-IN" sz="5600" b="1">
                <a:solidFill>
                  <a:schemeClr val="tx1"/>
                </a:solidFill>
                <a:latin typeface="Times New Roman" panose="02020603050405020304" pitchFamily="18" charset="0"/>
                <a:cs typeface="Times New Roman" panose="02020603050405020304" pitchFamily="18" charset="0"/>
              </a:rPr>
              <a:t>(Q5: Distribution of order values)</a:t>
            </a:r>
            <a:br>
              <a:rPr lang="en-IN" sz="5600">
                <a:solidFill>
                  <a:schemeClr val="tx1"/>
                </a:solidFill>
                <a:latin typeface="Times New Roman" panose="02020603050405020304" pitchFamily="18" charset="0"/>
                <a:cs typeface="Times New Roman" panose="02020603050405020304" pitchFamily="18" charset="0"/>
              </a:rPr>
            </a:br>
            <a:r>
              <a:rPr lang="en-IN" sz="5600">
                <a:solidFill>
                  <a:schemeClr val="tx1"/>
                </a:solidFill>
                <a:latin typeface="Times New Roman" panose="02020603050405020304" pitchFamily="18" charset="0"/>
                <a:cs typeface="Times New Roman" panose="02020603050405020304" pitchFamily="18" charset="0"/>
              </a:rPr>
              <a:t>Order value distribution analysis shows that most orders fall within a lower-to-mid value range, while a smaller number of high-value orders contribute significantly to overall revenue.</a:t>
            </a:r>
          </a:p>
          <a:p>
            <a:r>
              <a:rPr lang="en-IN" sz="5600" b="1">
                <a:solidFill>
                  <a:schemeClr val="tx1"/>
                </a:solidFill>
                <a:latin typeface="Times New Roman" panose="02020603050405020304" pitchFamily="18" charset="0"/>
                <a:cs typeface="Times New Roman" panose="02020603050405020304" pitchFamily="18" charset="0"/>
              </a:rPr>
              <a:t>Key Insight:</a:t>
            </a:r>
            <a:endParaRPr lang="en-IN" sz="5600">
              <a:solidFill>
                <a:schemeClr val="tx1"/>
              </a:solidFill>
              <a:latin typeface="Times New Roman" panose="02020603050405020304" pitchFamily="18" charset="0"/>
              <a:cs typeface="Times New Roman" panose="02020603050405020304" pitchFamily="18" charset="0"/>
            </a:endParaRPr>
          </a:p>
          <a:p>
            <a:pPr lvl="0"/>
            <a:r>
              <a:rPr lang="en-IN" sz="5600">
                <a:solidFill>
                  <a:schemeClr val="tx1"/>
                </a:solidFill>
                <a:latin typeface="Times New Roman" panose="02020603050405020304" pitchFamily="18" charset="0"/>
                <a:cs typeface="Times New Roman" panose="02020603050405020304" pitchFamily="18" charset="0"/>
              </a:rPr>
              <a:t>Revenue is driven by a mix of frequent low-value and fewer high-value orders.</a:t>
            </a:r>
          </a:p>
          <a:p>
            <a:pPr lvl="0"/>
            <a:r>
              <a:rPr lang="en-IN" sz="5600">
                <a:solidFill>
                  <a:schemeClr val="tx1"/>
                </a:solidFill>
                <a:latin typeface="Times New Roman" panose="02020603050405020304" pitchFamily="18" charset="0"/>
                <a:cs typeface="Times New Roman" panose="02020603050405020304" pitchFamily="18" charset="0"/>
              </a:rPr>
              <a:t>High-value orders have a strong impact on total revenue.</a:t>
            </a:r>
          </a:p>
          <a:p>
            <a:endParaRPr lang="en-IN"/>
          </a:p>
        </p:txBody>
      </p:sp>
    </p:spTree>
    <p:extLst>
      <p:ext uri="{BB962C8B-B14F-4D97-AF65-F5344CB8AC3E}">
        <p14:creationId xmlns:p14="http://schemas.microsoft.com/office/powerpoint/2010/main" val="3074884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20F4E4-6AE0-EE72-7F18-4CD019631FEE}"/>
              </a:ext>
            </a:extLst>
          </p:cNvPr>
          <p:cNvSpPr>
            <a:spLocks noGrp="1"/>
          </p:cNvSpPr>
          <p:nvPr>
            <p:ph idx="1"/>
          </p:nvPr>
        </p:nvSpPr>
        <p:spPr>
          <a:xfrm>
            <a:off x="2235251" y="894736"/>
            <a:ext cx="8915400" cy="3777622"/>
          </a:xfrm>
        </p:spPr>
        <p:txBody>
          <a:bodyPr/>
          <a:lstStyle/>
          <a:p>
            <a:r>
              <a:rPr lang="en-IN" b="1">
                <a:solidFill>
                  <a:srgbClr val="0070C0"/>
                </a:solidFill>
                <a:latin typeface="Times New Roman" panose="02020603050405020304" pitchFamily="18" charset="0"/>
                <a:cs typeface="Times New Roman" panose="02020603050405020304" pitchFamily="18" charset="0"/>
              </a:rPr>
              <a:t>Average Shipping Duration</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(Q6: Average order shipping duration)</a:t>
            </a:r>
          </a:p>
          <a:p>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Shipping duration analysis reveals differences in delivery times across regions and shipment destinations. While most orders are delivered within an acceptable timeframe, some regions experience longer shipping durations.</a:t>
            </a: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Shipping performance is consistent overall.</a:t>
            </a:r>
          </a:p>
          <a:p>
            <a:pPr lvl="0"/>
            <a:r>
              <a:rPr lang="en-IN">
                <a:solidFill>
                  <a:schemeClr val="tx1"/>
                </a:solidFill>
                <a:latin typeface="Times New Roman" panose="02020603050405020304" pitchFamily="18" charset="0"/>
                <a:cs typeface="Times New Roman" panose="02020603050405020304" pitchFamily="18" charset="0"/>
              </a:rPr>
              <a:t>Opportunities exist to optimize logistics in slower delivery regions.</a:t>
            </a:r>
          </a:p>
          <a:p>
            <a:endParaRPr lang="en-IN"/>
          </a:p>
        </p:txBody>
      </p:sp>
    </p:spTree>
    <p:extLst>
      <p:ext uri="{BB962C8B-B14F-4D97-AF65-F5344CB8AC3E}">
        <p14:creationId xmlns:p14="http://schemas.microsoft.com/office/powerpoint/2010/main" val="3160956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2B084B-02B8-AF2A-6D6E-5FEC633B93E8}"/>
              </a:ext>
            </a:extLst>
          </p:cNvPr>
          <p:cNvPicPr>
            <a:picLocks noChangeAspect="1"/>
          </p:cNvPicPr>
          <p:nvPr/>
        </p:nvPicPr>
        <p:blipFill>
          <a:blip r:embed="rId2"/>
          <a:stretch>
            <a:fillRect/>
          </a:stretch>
        </p:blipFill>
        <p:spPr>
          <a:xfrm>
            <a:off x="1145140" y="682833"/>
            <a:ext cx="4587066" cy="2856779"/>
          </a:xfrm>
          <a:prstGeom prst="rect">
            <a:avLst/>
          </a:prstGeom>
        </p:spPr>
      </p:pic>
      <p:pic>
        <p:nvPicPr>
          <p:cNvPr id="8" name="Picture 7">
            <a:extLst>
              <a:ext uri="{FF2B5EF4-FFF2-40B4-BE49-F238E27FC236}">
                <a16:creationId xmlns:a16="http://schemas.microsoft.com/office/drawing/2014/main" id="{D87B75A9-74DF-10F8-21B3-FD4C6FE2EDDB}"/>
              </a:ext>
            </a:extLst>
          </p:cNvPr>
          <p:cNvPicPr>
            <a:picLocks noChangeAspect="1"/>
          </p:cNvPicPr>
          <p:nvPr/>
        </p:nvPicPr>
        <p:blipFill>
          <a:blip r:embed="rId3"/>
          <a:stretch>
            <a:fillRect/>
          </a:stretch>
        </p:blipFill>
        <p:spPr>
          <a:xfrm>
            <a:off x="6253317" y="534354"/>
            <a:ext cx="4587066" cy="3005258"/>
          </a:xfrm>
          <a:prstGeom prst="rect">
            <a:avLst/>
          </a:prstGeom>
        </p:spPr>
      </p:pic>
      <p:pic>
        <p:nvPicPr>
          <p:cNvPr id="10" name="Picture 9">
            <a:extLst>
              <a:ext uri="{FF2B5EF4-FFF2-40B4-BE49-F238E27FC236}">
                <a16:creationId xmlns:a16="http://schemas.microsoft.com/office/drawing/2014/main" id="{B3D89F62-62B9-A7DE-1B11-723D4805FC4A}"/>
              </a:ext>
            </a:extLst>
          </p:cNvPr>
          <p:cNvPicPr>
            <a:picLocks noChangeAspect="1"/>
          </p:cNvPicPr>
          <p:nvPr/>
        </p:nvPicPr>
        <p:blipFill>
          <a:blip r:embed="rId4"/>
          <a:stretch>
            <a:fillRect/>
          </a:stretch>
        </p:blipFill>
        <p:spPr>
          <a:xfrm>
            <a:off x="1145140" y="3617680"/>
            <a:ext cx="4511201" cy="3063379"/>
          </a:xfrm>
          <a:prstGeom prst="rect">
            <a:avLst/>
          </a:prstGeom>
        </p:spPr>
      </p:pic>
      <p:pic>
        <p:nvPicPr>
          <p:cNvPr id="12" name="Picture 11">
            <a:extLst>
              <a:ext uri="{FF2B5EF4-FFF2-40B4-BE49-F238E27FC236}">
                <a16:creationId xmlns:a16="http://schemas.microsoft.com/office/drawing/2014/main" id="{1F6ECD7B-4B08-08ED-203A-71380FD26C4A}"/>
              </a:ext>
            </a:extLst>
          </p:cNvPr>
          <p:cNvPicPr>
            <a:picLocks noChangeAspect="1"/>
          </p:cNvPicPr>
          <p:nvPr/>
        </p:nvPicPr>
        <p:blipFill>
          <a:blip r:embed="rId5"/>
          <a:stretch>
            <a:fillRect/>
          </a:stretch>
        </p:blipFill>
        <p:spPr>
          <a:xfrm>
            <a:off x="6400800" y="3852743"/>
            <a:ext cx="4950860" cy="3005257"/>
          </a:xfrm>
          <a:prstGeom prst="rect">
            <a:avLst/>
          </a:prstGeom>
        </p:spPr>
      </p:pic>
      <p:sp>
        <p:nvSpPr>
          <p:cNvPr id="13" name="Rectangle: Rounded Corners 12">
            <a:extLst>
              <a:ext uri="{FF2B5EF4-FFF2-40B4-BE49-F238E27FC236}">
                <a16:creationId xmlns:a16="http://schemas.microsoft.com/office/drawing/2014/main" id="{7D7A98BD-C684-4D61-B373-F7EA8D91CC11}"/>
              </a:ext>
            </a:extLst>
          </p:cNvPr>
          <p:cNvSpPr/>
          <p:nvPr/>
        </p:nvSpPr>
        <p:spPr>
          <a:xfrm>
            <a:off x="1351617" y="33313"/>
            <a:ext cx="2182761" cy="501041"/>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accent6">
                    <a:lumMod val="50000"/>
                  </a:schemeClr>
                </a:solidFill>
                <a:latin typeface="Times New Roman" panose="02020603050405020304" pitchFamily="18" charset="0"/>
                <a:cs typeface="Times New Roman" panose="02020603050405020304" pitchFamily="18" charset="0"/>
              </a:rPr>
              <a:t>Product Analysis</a:t>
            </a:r>
            <a:endParaRPr lang="en-IN" sz="1600" b="1">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2237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FD706-9435-E068-746B-55DE426EB3BB}"/>
              </a:ext>
            </a:extLst>
          </p:cNvPr>
          <p:cNvSpPr>
            <a:spLocks noGrp="1"/>
          </p:cNvSpPr>
          <p:nvPr>
            <p:ph type="title"/>
          </p:nvPr>
        </p:nvSpPr>
        <p:spPr>
          <a:xfrm>
            <a:off x="1039428" y="0"/>
            <a:ext cx="2028237" cy="422787"/>
          </a:xfrm>
        </p:spPr>
        <p:txBody>
          <a:bodyPr>
            <a:normAutofit fontScale="90000"/>
          </a:bodyPr>
          <a:lstStyle/>
          <a:p>
            <a:r>
              <a:rPr lang="en-IN" sz="2000" b="1">
                <a:solidFill>
                  <a:srgbClr val="C00000"/>
                </a:solidFill>
              </a:rPr>
              <a:t>Product Analysis</a:t>
            </a:r>
            <a:br>
              <a:rPr lang="en-IN"/>
            </a:br>
            <a:endParaRPr lang="en-IN"/>
          </a:p>
        </p:txBody>
      </p:sp>
      <p:sp>
        <p:nvSpPr>
          <p:cNvPr id="3" name="Content Placeholder 2">
            <a:extLst>
              <a:ext uri="{FF2B5EF4-FFF2-40B4-BE49-F238E27FC236}">
                <a16:creationId xmlns:a16="http://schemas.microsoft.com/office/drawing/2014/main" id="{3822E821-B5A1-1A0A-A3A8-E9A6E1EBA88E}"/>
              </a:ext>
            </a:extLst>
          </p:cNvPr>
          <p:cNvSpPr>
            <a:spLocks noGrp="1"/>
          </p:cNvSpPr>
          <p:nvPr>
            <p:ph idx="1"/>
          </p:nvPr>
        </p:nvSpPr>
        <p:spPr>
          <a:xfrm>
            <a:off x="2053546" y="698090"/>
            <a:ext cx="8691716" cy="6435213"/>
          </a:xfrm>
        </p:spPr>
        <p:txBody>
          <a:bodyPr>
            <a:normAutofit/>
          </a:bodyPr>
          <a:lstStyle/>
          <a:p>
            <a:pPr marL="0" indent="0">
              <a:buNone/>
            </a:pPr>
            <a:r>
              <a:rPr lang="en-IN" b="1">
                <a:solidFill>
                  <a:srgbClr val="0070C0"/>
                </a:solidFill>
                <a:latin typeface="Times New Roman" panose="02020603050405020304" pitchFamily="18" charset="0"/>
                <a:cs typeface="Times New Roman" panose="02020603050405020304" pitchFamily="18" charset="0"/>
              </a:rPr>
              <a:t>Top-Selling Products</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(Q10: Products with highest sales volume)</a:t>
            </a:r>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Product performance analysis identifies a small number of products contributing disproportionately to total sales. These products form the backbone of the company’s revenue.</a:t>
            </a: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Top products drive a significant portion of revenue.</a:t>
            </a:r>
          </a:p>
          <a:p>
            <a:pPr lvl="0"/>
            <a:r>
              <a:rPr lang="en-IN">
                <a:solidFill>
                  <a:schemeClr val="tx1"/>
                </a:solidFill>
                <a:latin typeface="Times New Roman" panose="02020603050405020304" pitchFamily="18" charset="0"/>
                <a:cs typeface="Times New Roman" panose="02020603050405020304" pitchFamily="18" charset="0"/>
              </a:rPr>
              <a:t>Focus on high-performing products can maximize profitability.</a:t>
            </a:r>
          </a:p>
          <a:p>
            <a:endParaRPr lang="en-IN">
              <a:solidFill>
                <a:schemeClr val="tx1"/>
              </a:solidFill>
              <a:latin typeface="Times New Roman" panose="02020603050405020304" pitchFamily="18" charset="0"/>
              <a:cs typeface="Times New Roman" panose="02020603050405020304" pitchFamily="18" charset="0"/>
            </a:endParaRPr>
          </a:p>
          <a:p>
            <a:r>
              <a:rPr lang="en-IN" b="1">
                <a:solidFill>
                  <a:srgbClr val="0070C0"/>
                </a:solidFill>
                <a:latin typeface="Times New Roman" panose="02020603050405020304" pitchFamily="18" charset="0"/>
                <a:cs typeface="Times New Roman" panose="02020603050405020304" pitchFamily="18" charset="0"/>
              </a:rPr>
              <a:t>Sales by Product Category</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(Q11: Sales across product categories)</a:t>
            </a:r>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Category-level analysis reveals variation in sales contribution across different product groups. Certain categories consistently outperform others in terms of revenue and order volume.</a:t>
            </a: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A few categories dominate total sales.</a:t>
            </a:r>
          </a:p>
          <a:p>
            <a:pPr lvl="0"/>
            <a:r>
              <a:rPr lang="en-IN">
                <a:solidFill>
                  <a:schemeClr val="tx1"/>
                </a:solidFill>
                <a:latin typeface="Times New Roman" panose="02020603050405020304" pitchFamily="18" charset="0"/>
                <a:cs typeface="Times New Roman" panose="02020603050405020304" pitchFamily="18" charset="0"/>
              </a:rPr>
              <a:t>Underperforming categories may require repositioning or promotion.</a:t>
            </a:r>
            <a:br>
              <a:rPr lang="en-IN">
                <a:solidFill>
                  <a:schemeClr val="tx1"/>
                </a:solidFill>
                <a:latin typeface="Times New Roman" panose="02020603050405020304" pitchFamily="18" charset="0"/>
                <a:cs typeface="Times New Roman" panose="02020603050405020304" pitchFamily="18" charset="0"/>
              </a:rPr>
            </a:br>
            <a:endParaRPr lang="en-IN">
              <a:solidFill>
                <a:schemeClr val="tx1"/>
              </a:solidFill>
              <a:latin typeface="Times New Roman" panose="02020603050405020304" pitchFamily="18" charset="0"/>
              <a:cs typeface="Times New Roman" panose="02020603050405020304" pitchFamily="18" charset="0"/>
            </a:endParaRPr>
          </a:p>
          <a:p>
            <a:endParaRPr lang="en-IN"/>
          </a:p>
        </p:txBody>
      </p:sp>
    </p:spTree>
    <p:extLst>
      <p:ext uri="{BB962C8B-B14F-4D97-AF65-F5344CB8AC3E}">
        <p14:creationId xmlns:p14="http://schemas.microsoft.com/office/powerpoint/2010/main" val="3614164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69B36E-69D8-FEED-9B80-8C94B41782BB}"/>
              </a:ext>
            </a:extLst>
          </p:cNvPr>
          <p:cNvSpPr>
            <a:spLocks noGrp="1"/>
          </p:cNvSpPr>
          <p:nvPr>
            <p:ph idx="1"/>
          </p:nvPr>
        </p:nvSpPr>
        <p:spPr>
          <a:xfrm>
            <a:off x="2408904" y="847014"/>
            <a:ext cx="9380844" cy="5406301"/>
          </a:xfrm>
        </p:spPr>
        <p:txBody>
          <a:bodyPr>
            <a:normAutofit/>
          </a:bodyPr>
          <a:lstStyle/>
          <a:p>
            <a:r>
              <a:rPr lang="en-IN" b="1">
                <a:solidFill>
                  <a:srgbClr val="0070C0"/>
                </a:solidFill>
                <a:latin typeface="Times New Roman" panose="02020603050405020304" pitchFamily="18" charset="0"/>
                <a:cs typeface="Times New Roman" panose="02020603050405020304" pitchFamily="18" charset="0"/>
              </a:rPr>
              <a:t>Product Pricing Distribution</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(Q12: Pricing distribution of products)</a:t>
            </a:r>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Pricing distribution analysis shows a wide range of product prices, with most products clustered in a moderate price band and a few premium-priced items.</a:t>
            </a: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Pricing strategy balances affordability and premium offerings.</a:t>
            </a:r>
          </a:p>
          <a:p>
            <a:pPr lvl="0"/>
            <a:r>
              <a:rPr lang="en-IN">
                <a:solidFill>
                  <a:schemeClr val="tx1"/>
                </a:solidFill>
                <a:latin typeface="Times New Roman" panose="02020603050405020304" pitchFamily="18" charset="0"/>
                <a:cs typeface="Times New Roman" panose="02020603050405020304" pitchFamily="18" charset="0"/>
              </a:rPr>
              <a:t>Price variation supports diverse customer segments.</a:t>
            </a:r>
          </a:p>
          <a:p>
            <a:endParaRPr lang="en-IN"/>
          </a:p>
        </p:txBody>
      </p:sp>
    </p:spTree>
    <p:extLst>
      <p:ext uri="{BB962C8B-B14F-4D97-AF65-F5344CB8AC3E}">
        <p14:creationId xmlns:p14="http://schemas.microsoft.com/office/powerpoint/2010/main" val="259756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ADB539-132E-B7B8-F83D-CFCAC94FB9B4}"/>
              </a:ext>
            </a:extLst>
          </p:cNvPr>
          <p:cNvPicPr>
            <a:picLocks noChangeAspect="1"/>
          </p:cNvPicPr>
          <p:nvPr/>
        </p:nvPicPr>
        <p:blipFill>
          <a:blip r:embed="rId2"/>
          <a:stretch>
            <a:fillRect/>
          </a:stretch>
        </p:blipFill>
        <p:spPr>
          <a:xfrm>
            <a:off x="715970" y="717755"/>
            <a:ext cx="3308976" cy="6140245"/>
          </a:xfrm>
          <a:prstGeom prst="rect">
            <a:avLst/>
          </a:prstGeom>
        </p:spPr>
      </p:pic>
      <p:pic>
        <p:nvPicPr>
          <p:cNvPr id="5" name="Picture 4">
            <a:extLst>
              <a:ext uri="{FF2B5EF4-FFF2-40B4-BE49-F238E27FC236}">
                <a16:creationId xmlns:a16="http://schemas.microsoft.com/office/drawing/2014/main" id="{5F6DD172-0B88-4A03-6907-0B24CDDAAA8E}"/>
              </a:ext>
            </a:extLst>
          </p:cNvPr>
          <p:cNvPicPr>
            <a:picLocks noChangeAspect="1"/>
          </p:cNvPicPr>
          <p:nvPr/>
        </p:nvPicPr>
        <p:blipFill>
          <a:blip r:embed="rId3"/>
          <a:stretch>
            <a:fillRect/>
          </a:stretch>
        </p:blipFill>
        <p:spPr>
          <a:xfrm>
            <a:off x="4366050" y="436488"/>
            <a:ext cx="7486529" cy="3093293"/>
          </a:xfrm>
          <a:prstGeom prst="rect">
            <a:avLst/>
          </a:prstGeom>
        </p:spPr>
      </p:pic>
      <p:pic>
        <p:nvPicPr>
          <p:cNvPr id="7" name="Picture 6">
            <a:extLst>
              <a:ext uri="{FF2B5EF4-FFF2-40B4-BE49-F238E27FC236}">
                <a16:creationId xmlns:a16="http://schemas.microsoft.com/office/drawing/2014/main" id="{F2DBD970-4321-4F9B-1A58-2DDCDE2C3AAB}"/>
              </a:ext>
            </a:extLst>
          </p:cNvPr>
          <p:cNvPicPr>
            <a:picLocks noChangeAspect="1"/>
          </p:cNvPicPr>
          <p:nvPr/>
        </p:nvPicPr>
        <p:blipFill>
          <a:blip r:embed="rId4"/>
          <a:srcRect t="3835"/>
          <a:stretch>
            <a:fillRect/>
          </a:stretch>
        </p:blipFill>
        <p:spPr>
          <a:xfrm>
            <a:off x="4565971" y="3752416"/>
            <a:ext cx="7202169" cy="3010137"/>
          </a:xfrm>
          <a:prstGeom prst="rect">
            <a:avLst/>
          </a:prstGeom>
        </p:spPr>
      </p:pic>
      <p:sp>
        <p:nvSpPr>
          <p:cNvPr id="8" name="Rectangle: Rounded Corners 7">
            <a:extLst>
              <a:ext uri="{FF2B5EF4-FFF2-40B4-BE49-F238E27FC236}">
                <a16:creationId xmlns:a16="http://schemas.microsoft.com/office/drawing/2014/main" id="{D0E50DCB-5A37-A01D-C903-170705D3F760}"/>
              </a:ext>
            </a:extLst>
          </p:cNvPr>
          <p:cNvSpPr/>
          <p:nvPr/>
        </p:nvSpPr>
        <p:spPr>
          <a:xfrm>
            <a:off x="1279077" y="68826"/>
            <a:ext cx="2182761" cy="540774"/>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accent6">
                    <a:lumMod val="50000"/>
                  </a:schemeClr>
                </a:solidFill>
                <a:latin typeface="Times New Roman" panose="02020603050405020304" pitchFamily="18" charset="0"/>
                <a:cs typeface="Times New Roman" panose="02020603050405020304" pitchFamily="18" charset="0"/>
              </a:rPr>
              <a:t>Supplier Analysis</a:t>
            </a:r>
            <a:endParaRPr lang="en-IN" sz="1600" b="1">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2590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A931C-A2C4-2A21-A957-8421D579B433}"/>
              </a:ext>
            </a:extLst>
          </p:cNvPr>
          <p:cNvSpPr>
            <a:spLocks noGrp="1"/>
          </p:cNvSpPr>
          <p:nvPr>
            <p:ph type="title"/>
          </p:nvPr>
        </p:nvSpPr>
        <p:spPr>
          <a:xfrm>
            <a:off x="1304900" y="83336"/>
            <a:ext cx="2411694" cy="536096"/>
          </a:xfrm>
        </p:spPr>
        <p:txBody>
          <a:bodyPr>
            <a:normAutofit fontScale="90000"/>
          </a:bodyPr>
          <a:lstStyle/>
          <a:p>
            <a:r>
              <a:rPr lang="en-IN" sz="2000" b="1">
                <a:solidFill>
                  <a:srgbClr val="C00000"/>
                </a:solidFill>
              </a:rPr>
              <a:t>Supplier Analysis</a:t>
            </a:r>
            <a:br>
              <a:rPr lang="en-IN"/>
            </a:br>
            <a:endParaRPr lang="en-IN"/>
          </a:p>
        </p:txBody>
      </p:sp>
      <p:sp>
        <p:nvSpPr>
          <p:cNvPr id="3" name="Content Placeholder 2">
            <a:extLst>
              <a:ext uri="{FF2B5EF4-FFF2-40B4-BE49-F238E27FC236}">
                <a16:creationId xmlns:a16="http://schemas.microsoft.com/office/drawing/2014/main" id="{F56BF0A3-A3F0-17D4-6979-E059235A5495}"/>
              </a:ext>
            </a:extLst>
          </p:cNvPr>
          <p:cNvSpPr>
            <a:spLocks noGrp="1"/>
          </p:cNvSpPr>
          <p:nvPr>
            <p:ph idx="1"/>
          </p:nvPr>
        </p:nvSpPr>
        <p:spPr>
          <a:xfrm>
            <a:off x="1779639" y="973393"/>
            <a:ext cx="9006348" cy="5624052"/>
          </a:xfrm>
        </p:spPr>
        <p:txBody>
          <a:bodyPr>
            <a:noAutofit/>
          </a:bodyPr>
          <a:lstStyle/>
          <a:p>
            <a:r>
              <a:rPr lang="en-IN" sz="1600" b="1">
                <a:solidFill>
                  <a:srgbClr val="0070C0"/>
                </a:solidFill>
                <a:latin typeface="Times New Roman" panose="02020603050405020304" pitchFamily="18" charset="0"/>
                <a:cs typeface="Times New Roman" panose="02020603050405020304" pitchFamily="18" charset="0"/>
              </a:rPr>
              <a:t>Products Supplied by Each Supplier</a:t>
            </a:r>
            <a:endParaRPr lang="en-IN" sz="1600">
              <a:solidFill>
                <a:srgbClr val="0070C0"/>
              </a:solidFill>
              <a:latin typeface="Times New Roman" panose="02020603050405020304" pitchFamily="18" charset="0"/>
              <a:cs typeface="Times New Roman" panose="02020603050405020304" pitchFamily="18" charset="0"/>
            </a:endParaRPr>
          </a:p>
          <a:p>
            <a:r>
              <a:rPr lang="en-IN" sz="1600" b="1">
                <a:solidFill>
                  <a:schemeClr val="tx1"/>
                </a:solidFill>
                <a:latin typeface="Times New Roman" panose="02020603050405020304" pitchFamily="18" charset="0"/>
                <a:cs typeface="Times New Roman" panose="02020603050405020304" pitchFamily="18" charset="0"/>
              </a:rPr>
              <a:t>(Q13: Products per supplier)</a:t>
            </a:r>
          </a:p>
          <a:p>
            <a:br>
              <a:rPr lang="en-IN" sz="1600">
                <a:solidFill>
                  <a:schemeClr val="tx1"/>
                </a:solidFill>
                <a:latin typeface="Times New Roman" panose="02020603050405020304" pitchFamily="18" charset="0"/>
                <a:cs typeface="Times New Roman" panose="02020603050405020304" pitchFamily="18" charset="0"/>
              </a:rPr>
            </a:br>
            <a:r>
              <a:rPr lang="en-IN" sz="1600">
                <a:solidFill>
                  <a:schemeClr val="tx1"/>
                </a:solidFill>
                <a:latin typeface="Times New Roman" panose="02020603050405020304" pitchFamily="18" charset="0"/>
                <a:cs typeface="Times New Roman" panose="02020603050405020304" pitchFamily="18" charset="0"/>
              </a:rPr>
              <a:t>Supplier analysis highlights the number of products supplied by each supplier, showing that some suppliers play a more critical role in inventory availability.</a:t>
            </a:r>
          </a:p>
          <a:p>
            <a:r>
              <a:rPr lang="en-IN" sz="1600" b="1">
                <a:solidFill>
                  <a:schemeClr val="tx1"/>
                </a:solidFill>
                <a:latin typeface="Times New Roman" panose="02020603050405020304" pitchFamily="18" charset="0"/>
                <a:cs typeface="Times New Roman" panose="02020603050405020304" pitchFamily="18" charset="0"/>
              </a:rPr>
              <a:t>Key Insight:</a:t>
            </a:r>
            <a:endParaRPr lang="en-IN" sz="1600">
              <a:solidFill>
                <a:schemeClr val="tx1"/>
              </a:solidFill>
              <a:latin typeface="Times New Roman" panose="02020603050405020304" pitchFamily="18" charset="0"/>
              <a:cs typeface="Times New Roman" panose="02020603050405020304" pitchFamily="18" charset="0"/>
            </a:endParaRPr>
          </a:p>
          <a:p>
            <a:pPr lvl="0"/>
            <a:r>
              <a:rPr lang="en-IN" sz="1600">
                <a:solidFill>
                  <a:schemeClr val="tx1"/>
                </a:solidFill>
                <a:latin typeface="Times New Roman" panose="02020603050405020304" pitchFamily="18" charset="0"/>
                <a:cs typeface="Times New Roman" panose="02020603050405020304" pitchFamily="18" charset="0"/>
              </a:rPr>
              <a:t>Key suppliers contribute a large share of products.</a:t>
            </a:r>
          </a:p>
          <a:p>
            <a:pPr lvl="0"/>
            <a:r>
              <a:rPr lang="en-IN" sz="1600">
                <a:solidFill>
                  <a:schemeClr val="tx1"/>
                </a:solidFill>
                <a:latin typeface="Times New Roman" panose="02020603050405020304" pitchFamily="18" charset="0"/>
                <a:cs typeface="Times New Roman" panose="02020603050405020304" pitchFamily="18" charset="0"/>
              </a:rPr>
              <a:t>Supplier dependency should be monitored to reduce risk.</a:t>
            </a:r>
          </a:p>
          <a:p>
            <a:r>
              <a:rPr lang="en-IN" sz="1600" b="1">
                <a:solidFill>
                  <a:srgbClr val="0070C0"/>
                </a:solidFill>
                <a:latin typeface="Times New Roman" panose="02020603050405020304" pitchFamily="18" charset="0"/>
                <a:cs typeface="Times New Roman" panose="02020603050405020304" pitchFamily="18" charset="0"/>
              </a:rPr>
              <a:t>Pricing Variation Across Suppliers</a:t>
            </a:r>
            <a:endParaRPr lang="en-IN" sz="1600">
              <a:solidFill>
                <a:srgbClr val="0070C0"/>
              </a:solidFill>
              <a:latin typeface="Times New Roman" panose="02020603050405020304" pitchFamily="18" charset="0"/>
              <a:cs typeface="Times New Roman" panose="02020603050405020304" pitchFamily="18" charset="0"/>
            </a:endParaRPr>
          </a:p>
          <a:p>
            <a:r>
              <a:rPr lang="en-IN" sz="1600" b="1">
                <a:solidFill>
                  <a:schemeClr val="tx1"/>
                </a:solidFill>
                <a:latin typeface="Times New Roman" panose="02020603050405020304" pitchFamily="18" charset="0"/>
                <a:cs typeface="Times New Roman" panose="02020603050405020304" pitchFamily="18" charset="0"/>
              </a:rPr>
              <a:t>(Q14: Product pricing by supplier)</a:t>
            </a:r>
          </a:p>
          <a:p>
            <a:br>
              <a:rPr lang="en-IN" sz="1600">
                <a:solidFill>
                  <a:schemeClr val="tx1"/>
                </a:solidFill>
                <a:latin typeface="Times New Roman" panose="02020603050405020304" pitchFamily="18" charset="0"/>
                <a:cs typeface="Times New Roman" panose="02020603050405020304" pitchFamily="18" charset="0"/>
              </a:rPr>
            </a:br>
            <a:r>
              <a:rPr lang="en-IN" sz="1600">
                <a:solidFill>
                  <a:schemeClr val="tx1"/>
                </a:solidFill>
                <a:latin typeface="Times New Roman" panose="02020603050405020304" pitchFamily="18" charset="0"/>
                <a:cs typeface="Times New Roman" panose="02020603050405020304" pitchFamily="18" charset="0"/>
              </a:rPr>
              <a:t>Pricing comparison across suppliers reveals noticeable variation in product costs. This indicates differences in supplier pricing strategies and cost structures.</a:t>
            </a:r>
          </a:p>
          <a:p>
            <a:r>
              <a:rPr lang="en-IN" sz="1600" b="1">
                <a:solidFill>
                  <a:schemeClr val="tx1"/>
                </a:solidFill>
                <a:latin typeface="Times New Roman" panose="02020603050405020304" pitchFamily="18" charset="0"/>
                <a:cs typeface="Times New Roman" panose="02020603050405020304" pitchFamily="18" charset="0"/>
              </a:rPr>
              <a:t>Key Insight:</a:t>
            </a:r>
            <a:endParaRPr lang="en-IN" sz="1600">
              <a:solidFill>
                <a:schemeClr val="tx1"/>
              </a:solidFill>
              <a:latin typeface="Times New Roman" panose="02020603050405020304" pitchFamily="18" charset="0"/>
              <a:cs typeface="Times New Roman" panose="02020603050405020304" pitchFamily="18" charset="0"/>
            </a:endParaRPr>
          </a:p>
          <a:p>
            <a:pPr lvl="0"/>
            <a:r>
              <a:rPr lang="en-IN" sz="1600">
                <a:solidFill>
                  <a:schemeClr val="tx1"/>
                </a:solidFill>
                <a:latin typeface="Times New Roman" panose="02020603050405020304" pitchFamily="18" charset="0"/>
                <a:cs typeface="Times New Roman" panose="02020603050405020304" pitchFamily="18" charset="0"/>
              </a:rPr>
              <a:t>Pricing differences offer negotiation opportunities.</a:t>
            </a:r>
          </a:p>
          <a:p>
            <a:pPr lvl="0"/>
            <a:r>
              <a:rPr lang="en-IN" sz="1600">
                <a:solidFill>
                  <a:schemeClr val="tx1"/>
                </a:solidFill>
                <a:latin typeface="Times New Roman" panose="02020603050405020304" pitchFamily="18" charset="0"/>
                <a:cs typeface="Times New Roman" panose="02020603050405020304" pitchFamily="18" charset="0"/>
              </a:rPr>
              <a:t>Supplier pricing impacts overall profit margins.</a:t>
            </a:r>
          </a:p>
        </p:txBody>
      </p:sp>
    </p:spTree>
    <p:extLst>
      <p:ext uri="{BB962C8B-B14F-4D97-AF65-F5344CB8AC3E}">
        <p14:creationId xmlns:p14="http://schemas.microsoft.com/office/powerpoint/2010/main" val="3452872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C6F140-A42E-068C-F1C4-CFFF77E95883}"/>
              </a:ext>
            </a:extLst>
          </p:cNvPr>
          <p:cNvSpPr>
            <a:spLocks noGrp="1"/>
          </p:cNvSpPr>
          <p:nvPr>
            <p:ph idx="1"/>
          </p:nvPr>
        </p:nvSpPr>
        <p:spPr>
          <a:xfrm>
            <a:off x="1986116" y="1022555"/>
            <a:ext cx="9518496" cy="4888667"/>
          </a:xfrm>
        </p:spPr>
        <p:txBody>
          <a:bodyPr/>
          <a:lstStyle/>
          <a:p>
            <a:r>
              <a:rPr lang="en-IN" b="1">
                <a:solidFill>
                  <a:srgbClr val="0070C0"/>
                </a:solidFill>
                <a:latin typeface="Times New Roman" panose="02020603050405020304" pitchFamily="18" charset="0"/>
                <a:cs typeface="Times New Roman" panose="02020603050405020304" pitchFamily="18" charset="0"/>
              </a:rPr>
              <a:t>Geographical Distribution of Suppliers</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(Q15: Supplier geographic distribution)</a:t>
            </a:r>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The geographic analysis of suppliers shows a concentration in specific regions, with some suppliers operating closer to major markets.</a:t>
            </a: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Supplier locations influence shipping time and logistics costs.</a:t>
            </a:r>
          </a:p>
          <a:p>
            <a:pPr lvl="0"/>
            <a:r>
              <a:rPr lang="en-IN">
                <a:solidFill>
                  <a:schemeClr val="tx1"/>
                </a:solidFill>
                <a:latin typeface="Times New Roman" panose="02020603050405020304" pitchFamily="18" charset="0"/>
                <a:cs typeface="Times New Roman" panose="02020603050405020304" pitchFamily="18" charset="0"/>
              </a:rPr>
              <a:t>Regional diversification can improve supply chain resilience.</a:t>
            </a:r>
          </a:p>
          <a:p>
            <a:endParaRPr lang="en-IN"/>
          </a:p>
        </p:txBody>
      </p:sp>
    </p:spTree>
    <p:extLst>
      <p:ext uri="{BB962C8B-B14F-4D97-AF65-F5344CB8AC3E}">
        <p14:creationId xmlns:p14="http://schemas.microsoft.com/office/powerpoint/2010/main" val="3331497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99E7C6-9906-7BCF-3CA2-281962D30B58}"/>
              </a:ext>
            </a:extLst>
          </p:cNvPr>
          <p:cNvPicPr>
            <a:picLocks noChangeAspect="1"/>
          </p:cNvPicPr>
          <p:nvPr/>
        </p:nvPicPr>
        <p:blipFill>
          <a:blip r:embed="rId2"/>
          <a:stretch>
            <a:fillRect/>
          </a:stretch>
        </p:blipFill>
        <p:spPr>
          <a:xfrm>
            <a:off x="1146537" y="796801"/>
            <a:ext cx="2815863" cy="2681185"/>
          </a:xfrm>
          <a:prstGeom prst="rect">
            <a:avLst/>
          </a:prstGeom>
        </p:spPr>
      </p:pic>
      <p:pic>
        <p:nvPicPr>
          <p:cNvPr id="5" name="Picture 4">
            <a:extLst>
              <a:ext uri="{FF2B5EF4-FFF2-40B4-BE49-F238E27FC236}">
                <a16:creationId xmlns:a16="http://schemas.microsoft.com/office/drawing/2014/main" id="{80E7C9B7-409D-C646-F3B6-1DDCA67E2832}"/>
              </a:ext>
            </a:extLst>
          </p:cNvPr>
          <p:cNvPicPr>
            <a:picLocks noChangeAspect="1"/>
          </p:cNvPicPr>
          <p:nvPr/>
        </p:nvPicPr>
        <p:blipFill>
          <a:blip r:embed="rId3"/>
          <a:stretch>
            <a:fillRect/>
          </a:stretch>
        </p:blipFill>
        <p:spPr>
          <a:xfrm>
            <a:off x="4294079" y="698825"/>
            <a:ext cx="7095513" cy="2779161"/>
          </a:xfrm>
          <a:prstGeom prst="rect">
            <a:avLst/>
          </a:prstGeom>
        </p:spPr>
      </p:pic>
      <p:pic>
        <p:nvPicPr>
          <p:cNvPr id="7" name="Picture 6">
            <a:extLst>
              <a:ext uri="{FF2B5EF4-FFF2-40B4-BE49-F238E27FC236}">
                <a16:creationId xmlns:a16="http://schemas.microsoft.com/office/drawing/2014/main" id="{DEE7219F-D31D-0268-A032-532C32476CD7}"/>
              </a:ext>
            </a:extLst>
          </p:cNvPr>
          <p:cNvPicPr>
            <a:picLocks noChangeAspect="1"/>
          </p:cNvPicPr>
          <p:nvPr/>
        </p:nvPicPr>
        <p:blipFill>
          <a:blip r:embed="rId4"/>
          <a:stretch>
            <a:fillRect/>
          </a:stretch>
        </p:blipFill>
        <p:spPr>
          <a:xfrm>
            <a:off x="884903" y="3625356"/>
            <a:ext cx="4345105" cy="3102332"/>
          </a:xfrm>
          <a:prstGeom prst="rect">
            <a:avLst/>
          </a:prstGeom>
        </p:spPr>
      </p:pic>
      <p:pic>
        <p:nvPicPr>
          <p:cNvPr id="9" name="Picture 8">
            <a:extLst>
              <a:ext uri="{FF2B5EF4-FFF2-40B4-BE49-F238E27FC236}">
                <a16:creationId xmlns:a16="http://schemas.microsoft.com/office/drawing/2014/main" id="{C45F5588-4625-48CB-5349-8427F1C6A248}"/>
              </a:ext>
            </a:extLst>
          </p:cNvPr>
          <p:cNvPicPr>
            <a:picLocks noChangeAspect="1"/>
          </p:cNvPicPr>
          <p:nvPr/>
        </p:nvPicPr>
        <p:blipFill>
          <a:blip r:embed="rId5"/>
          <a:stretch>
            <a:fillRect/>
          </a:stretch>
        </p:blipFill>
        <p:spPr>
          <a:xfrm>
            <a:off x="5652796" y="3726426"/>
            <a:ext cx="5473967" cy="2930083"/>
          </a:xfrm>
          <a:prstGeom prst="rect">
            <a:avLst/>
          </a:prstGeom>
        </p:spPr>
      </p:pic>
      <p:sp>
        <p:nvSpPr>
          <p:cNvPr id="10" name="Rectangle 9">
            <a:extLst>
              <a:ext uri="{FF2B5EF4-FFF2-40B4-BE49-F238E27FC236}">
                <a16:creationId xmlns:a16="http://schemas.microsoft.com/office/drawing/2014/main" id="{8145B950-91DC-86E7-CDBA-5287E70A1B81}"/>
              </a:ext>
            </a:extLst>
          </p:cNvPr>
          <p:cNvSpPr/>
          <p:nvPr/>
        </p:nvSpPr>
        <p:spPr>
          <a:xfrm>
            <a:off x="9881420" y="3726426"/>
            <a:ext cx="1245344" cy="4129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D2936018-0C39-A17B-E3CB-2CADF788AAE4}"/>
              </a:ext>
            </a:extLst>
          </p:cNvPr>
          <p:cNvSpPr/>
          <p:nvPr/>
        </p:nvSpPr>
        <p:spPr>
          <a:xfrm>
            <a:off x="1463087" y="79895"/>
            <a:ext cx="2182761" cy="46087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a:solidFill>
                  <a:schemeClr val="accent6">
                    <a:lumMod val="50000"/>
                  </a:schemeClr>
                </a:solidFill>
                <a:latin typeface="Times New Roman" panose="02020603050405020304" pitchFamily="18" charset="0"/>
                <a:cs typeface="Times New Roman" panose="02020603050405020304" pitchFamily="18" charset="0"/>
              </a:rPr>
              <a:t>Employee Analysis</a:t>
            </a:r>
            <a:endParaRPr lang="en-IN" sz="1600" b="1">
              <a:solidFill>
                <a:schemeClr val="accent6">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1628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BB09-E8FF-AFEB-6E38-577EF3C5CC6D}"/>
              </a:ext>
            </a:extLst>
          </p:cNvPr>
          <p:cNvSpPr>
            <a:spLocks noGrp="1"/>
          </p:cNvSpPr>
          <p:nvPr>
            <p:ph type="title"/>
          </p:nvPr>
        </p:nvSpPr>
        <p:spPr>
          <a:xfrm>
            <a:off x="1118087" y="73504"/>
            <a:ext cx="2569010" cy="486935"/>
          </a:xfrm>
        </p:spPr>
        <p:txBody>
          <a:bodyPr>
            <a:normAutofit fontScale="90000"/>
          </a:bodyPr>
          <a:lstStyle/>
          <a:p>
            <a:r>
              <a:rPr lang="en-IN" sz="1800" b="1">
                <a:solidFill>
                  <a:srgbClr val="C00000"/>
                </a:solidFill>
                <a:latin typeface="Times New Roman" panose="02020603050405020304" pitchFamily="18" charset="0"/>
                <a:cs typeface="Times New Roman" panose="02020603050405020304" pitchFamily="18" charset="0"/>
              </a:rPr>
              <a:t>Employee Analysis</a:t>
            </a:r>
            <a:br>
              <a:rPr lang="en-IN"/>
            </a:br>
            <a:endParaRPr lang="en-IN"/>
          </a:p>
        </p:txBody>
      </p:sp>
      <p:sp>
        <p:nvSpPr>
          <p:cNvPr id="3" name="Content Placeholder 2">
            <a:extLst>
              <a:ext uri="{FF2B5EF4-FFF2-40B4-BE49-F238E27FC236}">
                <a16:creationId xmlns:a16="http://schemas.microsoft.com/office/drawing/2014/main" id="{06A66267-D793-C7C3-BDE6-6AF060C5A03C}"/>
              </a:ext>
            </a:extLst>
          </p:cNvPr>
          <p:cNvSpPr>
            <a:spLocks noGrp="1"/>
          </p:cNvSpPr>
          <p:nvPr>
            <p:ph idx="1"/>
          </p:nvPr>
        </p:nvSpPr>
        <p:spPr>
          <a:xfrm>
            <a:off x="1376515" y="462116"/>
            <a:ext cx="9697398" cy="6322379"/>
          </a:xfrm>
        </p:spPr>
        <p:txBody>
          <a:bodyPr>
            <a:normAutofit/>
          </a:bodyPr>
          <a:lstStyle/>
          <a:p>
            <a:r>
              <a:rPr lang="en-IN" b="1">
                <a:solidFill>
                  <a:srgbClr val="0070C0"/>
                </a:solidFill>
                <a:latin typeface="Times New Roman" panose="02020603050405020304" pitchFamily="18" charset="0"/>
                <a:cs typeface="Times New Roman" panose="02020603050405020304" pitchFamily="18" charset="0"/>
              </a:rPr>
              <a:t>Employee Count by Job Title / Region</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(Q7: Employee count by job title or region)</a:t>
            </a:r>
          </a:p>
          <a:p>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The workforce analysis shows how employees are distributed across different job titles and regions. Operational and sales-related roles form the largest share of the workforce.</a:t>
            </a: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Employee distribution aligns with operational needs.</a:t>
            </a:r>
          </a:p>
          <a:p>
            <a:pPr lvl="0"/>
            <a:r>
              <a:rPr lang="en-IN">
                <a:solidFill>
                  <a:schemeClr val="tx1"/>
                </a:solidFill>
                <a:latin typeface="Times New Roman" panose="02020603050405020304" pitchFamily="18" charset="0"/>
                <a:cs typeface="Times New Roman" panose="02020603050405020304" pitchFamily="18" charset="0"/>
              </a:rPr>
              <a:t>Certain regions employ more staff to support higher business activity.</a:t>
            </a:r>
          </a:p>
          <a:p>
            <a:r>
              <a:rPr lang="en-IN" b="1">
                <a:solidFill>
                  <a:srgbClr val="0070C0"/>
                </a:solidFill>
                <a:latin typeface="Times New Roman" panose="02020603050405020304" pitchFamily="18" charset="0"/>
                <a:cs typeface="Times New Roman" panose="02020603050405020304" pitchFamily="18" charset="0"/>
              </a:rPr>
              <a:t>Employee Tenure Distribution</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(Q8: Distribution of employee tenure)</a:t>
            </a:r>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Tenure analysis highlights a mix of experienced and relatively new employees. This balance reflects workforce stability along with ongoing talent acquisition.</a:t>
            </a: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A stable core workforce supports operational continuity.</a:t>
            </a:r>
          </a:p>
          <a:p>
            <a:pPr lvl="0"/>
            <a:r>
              <a:rPr lang="en-IN">
                <a:solidFill>
                  <a:schemeClr val="tx1"/>
                </a:solidFill>
                <a:latin typeface="Times New Roman" panose="02020603050405020304" pitchFamily="18" charset="0"/>
                <a:cs typeface="Times New Roman" panose="02020603050405020304" pitchFamily="18" charset="0"/>
              </a:rPr>
              <a:t>New hires indicate business expansion and growth.</a:t>
            </a:r>
          </a:p>
          <a:p>
            <a:endParaRPr lang="en-IN"/>
          </a:p>
        </p:txBody>
      </p:sp>
    </p:spTree>
    <p:extLst>
      <p:ext uri="{BB962C8B-B14F-4D97-AF65-F5344CB8AC3E}">
        <p14:creationId xmlns:p14="http://schemas.microsoft.com/office/powerpoint/2010/main" val="3426811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958063-1765-B8AC-D61E-7240A58AAFB9}"/>
              </a:ext>
            </a:extLst>
          </p:cNvPr>
          <p:cNvSpPr>
            <a:spLocks noGrp="1"/>
          </p:cNvSpPr>
          <p:nvPr>
            <p:ph idx="1"/>
          </p:nvPr>
        </p:nvSpPr>
        <p:spPr>
          <a:xfrm>
            <a:off x="2304077" y="1002890"/>
            <a:ext cx="8915400" cy="3777622"/>
          </a:xfrm>
        </p:spPr>
        <p:txBody>
          <a:bodyPr/>
          <a:lstStyle/>
          <a:p>
            <a:r>
              <a:rPr lang="en-IN" b="1">
                <a:solidFill>
                  <a:srgbClr val="0070C0"/>
                </a:solidFill>
                <a:latin typeface="Times New Roman" panose="02020603050405020304" pitchFamily="18" charset="0"/>
                <a:cs typeface="Times New Roman" panose="02020603050405020304" pitchFamily="18" charset="0"/>
              </a:rPr>
              <a:t>Employee Reporting Structure</a:t>
            </a:r>
            <a:endParaRPr lang="en-IN">
              <a:solidFill>
                <a:srgbClr val="0070C0"/>
              </a:solidFill>
              <a:latin typeface="Times New Roman" panose="02020603050405020304" pitchFamily="18" charset="0"/>
              <a:cs typeface="Times New Roman" panose="02020603050405020304" pitchFamily="18" charset="0"/>
            </a:endParaRPr>
          </a:p>
          <a:p>
            <a:r>
              <a:rPr lang="en-IN" b="1">
                <a:solidFill>
                  <a:schemeClr val="tx1"/>
                </a:solidFill>
                <a:latin typeface="Times New Roman" panose="02020603050405020304" pitchFamily="18" charset="0"/>
                <a:cs typeface="Times New Roman" panose="02020603050405020304" pitchFamily="18" charset="0"/>
              </a:rPr>
              <a:t>(Q9: Reporting structure among employees)</a:t>
            </a:r>
          </a:p>
          <a:p>
            <a:br>
              <a:rPr lang="en-IN">
                <a:solidFill>
                  <a:schemeClr val="tx1"/>
                </a:solidFill>
                <a:latin typeface="Times New Roman" panose="02020603050405020304" pitchFamily="18" charset="0"/>
                <a:cs typeface="Times New Roman" panose="02020603050405020304" pitchFamily="18" charset="0"/>
              </a:rPr>
            </a:br>
            <a:r>
              <a:rPr lang="en-IN">
                <a:solidFill>
                  <a:schemeClr val="tx1"/>
                </a:solidFill>
                <a:latin typeface="Times New Roman" panose="02020603050405020304" pitchFamily="18" charset="0"/>
                <a:cs typeface="Times New Roman" panose="02020603050405020304" pitchFamily="18" charset="0"/>
              </a:rPr>
              <a:t>The hierarchical analysis illustrates the reporting structure within the organization, showing clear managerial levels and reporting relationships. This structure supports effective communication and operational control.</a:t>
            </a:r>
          </a:p>
          <a:p>
            <a:r>
              <a:rPr lang="en-IN" b="1">
                <a:solidFill>
                  <a:schemeClr val="tx1"/>
                </a:solidFill>
                <a:latin typeface="Times New Roman" panose="02020603050405020304" pitchFamily="18" charset="0"/>
                <a:cs typeface="Times New Roman" panose="02020603050405020304" pitchFamily="18" charset="0"/>
              </a:rPr>
              <a:t>Key Insight:</a:t>
            </a:r>
            <a:endParaRPr lang="en-IN">
              <a:solidFill>
                <a:schemeClr val="tx1"/>
              </a:solidFill>
              <a:latin typeface="Times New Roman" panose="02020603050405020304" pitchFamily="18" charset="0"/>
              <a:cs typeface="Times New Roman" panose="02020603050405020304" pitchFamily="18" charset="0"/>
            </a:endParaRPr>
          </a:p>
          <a:p>
            <a:pPr lvl="0"/>
            <a:r>
              <a:rPr lang="en-IN">
                <a:solidFill>
                  <a:schemeClr val="tx1"/>
                </a:solidFill>
                <a:latin typeface="Times New Roman" panose="02020603050405020304" pitchFamily="18" charset="0"/>
                <a:cs typeface="Times New Roman" panose="02020603050405020304" pitchFamily="18" charset="0"/>
              </a:rPr>
              <a:t>Well-defined reporting hierarchy enhances accountability.</a:t>
            </a:r>
          </a:p>
          <a:p>
            <a:pPr lvl="0"/>
            <a:r>
              <a:rPr lang="en-IN">
                <a:solidFill>
                  <a:schemeClr val="tx1"/>
                </a:solidFill>
                <a:latin typeface="Times New Roman" panose="02020603050405020304" pitchFamily="18" charset="0"/>
                <a:cs typeface="Times New Roman" panose="02020603050405020304" pitchFamily="18" charset="0"/>
              </a:rPr>
              <a:t>Organizational structure supports efficient decision-making.</a:t>
            </a:r>
          </a:p>
          <a:p>
            <a:endParaRPr lang="en-IN"/>
          </a:p>
        </p:txBody>
      </p:sp>
    </p:spTree>
    <p:extLst>
      <p:ext uri="{BB962C8B-B14F-4D97-AF65-F5344CB8AC3E}">
        <p14:creationId xmlns:p14="http://schemas.microsoft.com/office/powerpoint/2010/main" val="30699307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98B63-FB2F-14EE-8524-BD849AB3C55A}"/>
              </a:ext>
            </a:extLst>
          </p:cNvPr>
          <p:cNvSpPr>
            <a:spLocks noGrp="1"/>
          </p:cNvSpPr>
          <p:nvPr>
            <p:ph type="title"/>
          </p:nvPr>
        </p:nvSpPr>
        <p:spPr>
          <a:xfrm>
            <a:off x="3448330" y="2511904"/>
            <a:ext cx="6039799" cy="1280890"/>
          </a:xfrm>
        </p:spPr>
        <p:txBody>
          <a:bodyPr/>
          <a:lstStyle/>
          <a:p>
            <a:r>
              <a:rPr lang="en-US" b="1">
                <a:solidFill>
                  <a:schemeClr val="accent6">
                    <a:lumMod val="50000"/>
                  </a:schemeClr>
                </a:solidFill>
                <a:latin typeface="Times New Roman" panose="02020603050405020304" pitchFamily="18" charset="0"/>
                <a:cs typeface="Times New Roman" panose="02020603050405020304" pitchFamily="18" charset="0"/>
              </a:rPr>
              <a:t>EDA Problem Statements</a:t>
            </a:r>
            <a:br>
              <a:rPr lang="en-US"/>
            </a:br>
            <a:endParaRPr lang="en-IN"/>
          </a:p>
        </p:txBody>
      </p:sp>
    </p:spTree>
    <p:extLst>
      <p:ext uri="{BB962C8B-B14F-4D97-AF65-F5344CB8AC3E}">
        <p14:creationId xmlns:p14="http://schemas.microsoft.com/office/powerpoint/2010/main" val="2466473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0A24DC-C49C-4AE1-9DE3-A398A7E3F990}"/>
              </a:ext>
            </a:extLst>
          </p:cNvPr>
          <p:cNvSpPr>
            <a:spLocks noGrp="1"/>
          </p:cNvSpPr>
          <p:nvPr>
            <p:ph idx="1"/>
          </p:nvPr>
        </p:nvSpPr>
        <p:spPr>
          <a:xfrm>
            <a:off x="1976284" y="639096"/>
            <a:ext cx="10510684" cy="6567949"/>
          </a:xfrm>
        </p:spPr>
        <p:txBody>
          <a:bodyPr/>
          <a:lstStyle/>
          <a:p>
            <a:pPr lvl="0"/>
            <a:r>
              <a:rPr lang="en-IN">
                <a:solidFill>
                  <a:schemeClr val="tx1"/>
                </a:solidFill>
                <a:latin typeface="Times New Roman" panose="02020603050405020304" pitchFamily="18" charset="0"/>
                <a:cs typeface="Times New Roman" panose="02020603050405020304" pitchFamily="18" charset="0"/>
              </a:rPr>
              <a:t>What is the average number of orders per customer? Are there high-value repeat customers?</a:t>
            </a:r>
          </a:p>
          <a:p>
            <a:pPr lvl="0"/>
            <a:r>
              <a:rPr lang="en-IN">
                <a:solidFill>
                  <a:schemeClr val="tx1"/>
                </a:solidFill>
                <a:latin typeface="Times New Roman" panose="02020603050405020304" pitchFamily="18" charset="0"/>
                <a:cs typeface="Times New Roman" panose="02020603050405020304" pitchFamily="18" charset="0"/>
              </a:rPr>
              <a:t>How do customer order patterns vary by city or country?</a:t>
            </a:r>
          </a:p>
          <a:p>
            <a:pPr lvl="0"/>
            <a:r>
              <a:rPr lang="en-IN">
                <a:solidFill>
                  <a:schemeClr val="tx1"/>
                </a:solidFill>
                <a:latin typeface="Times New Roman" panose="02020603050405020304" pitchFamily="18" charset="0"/>
                <a:cs typeface="Times New Roman" panose="02020603050405020304" pitchFamily="18" charset="0"/>
              </a:rPr>
              <a:t>Can we cluster customers based on total spend, order count, and preferred categories?</a:t>
            </a:r>
          </a:p>
          <a:p>
            <a:pPr lvl="0"/>
            <a:r>
              <a:rPr lang="en-IN">
                <a:solidFill>
                  <a:schemeClr val="tx1"/>
                </a:solidFill>
                <a:latin typeface="Times New Roman" panose="02020603050405020304" pitchFamily="18" charset="0"/>
                <a:cs typeface="Times New Roman" panose="02020603050405020304" pitchFamily="18" charset="0"/>
              </a:rPr>
              <a:t>Which product categories or products contribute most to order revenue? 5 .Are there any correlations between orders and customer location or product category?</a:t>
            </a:r>
          </a:p>
          <a:p>
            <a:pPr lvl="0"/>
            <a:r>
              <a:rPr lang="en-IN">
                <a:solidFill>
                  <a:schemeClr val="tx1"/>
                </a:solidFill>
                <a:latin typeface="Times New Roman" panose="02020603050405020304" pitchFamily="18" charset="0"/>
                <a:cs typeface="Times New Roman" panose="02020603050405020304" pitchFamily="18" charset="0"/>
              </a:rPr>
              <a:t>How frequently do different customer segments place orders?</a:t>
            </a:r>
          </a:p>
          <a:p>
            <a:pPr lvl="0"/>
            <a:r>
              <a:rPr lang="en-IN">
                <a:solidFill>
                  <a:schemeClr val="tx1"/>
                </a:solidFill>
                <a:latin typeface="Times New Roman" panose="02020603050405020304" pitchFamily="18" charset="0"/>
                <a:cs typeface="Times New Roman" panose="02020603050405020304" pitchFamily="18" charset="0"/>
              </a:rPr>
              <a:t>What is the geographic and title-wise distribution of employees?</a:t>
            </a:r>
          </a:p>
          <a:p>
            <a:pPr lvl="0"/>
            <a:r>
              <a:rPr lang="en-IN">
                <a:solidFill>
                  <a:schemeClr val="tx1"/>
                </a:solidFill>
                <a:latin typeface="Times New Roman" panose="02020603050405020304" pitchFamily="18" charset="0"/>
                <a:cs typeface="Times New Roman" panose="02020603050405020304" pitchFamily="18" charset="0"/>
              </a:rPr>
              <a:t>What trends can we observe in hire dates across employee titles?</a:t>
            </a:r>
          </a:p>
          <a:p>
            <a:pPr lvl="0"/>
            <a:r>
              <a:rPr lang="en-IN">
                <a:solidFill>
                  <a:schemeClr val="tx1"/>
                </a:solidFill>
                <a:latin typeface="Times New Roman" panose="02020603050405020304" pitchFamily="18" charset="0"/>
                <a:cs typeface="Times New Roman" panose="02020603050405020304" pitchFamily="18" charset="0"/>
              </a:rPr>
              <a:t>What patterns exist in employee title and courtesy title distributions?</a:t>
            </a:r>
          </a:p>
          <a:p>
            <a:pPr lvl="0"/>
            <a:r>
              <a:rPr lang="en-IN">
                <a:solidFill>
                  <a:schemeClr val="tx1"/>
                </a:solidFill>
                <a:latin typeface="Times New Roman" panose="02020603050405020304" pitchFamily="18" charset="0"/>
                <a:cs typeface="Times New Roman" panose="02020603050405020304" pitchFamily="18" charset="0"/>
              </a:rPr>
              <a:t>Are there correlations between product pricing, stock levels, and sales performance?</a:t>
            </a:r>
          </a:p>
          <a:p>
            <a:pPr lvl="0"/>
            <a:r>
              <a:rPr lang="en-IN">
                <a:solidFill>
                  <a:schemeClr val="tx1"/>
                </a:solidFill>
                <a:latin typeface="Times New Roman" panose="02020603050405020304" pitchFamily="18" charset="0"/>
                <a:cs typeface="Times New Roman" panose="02020603050405020304" pitchFamily="18" charset="0"/>
              </a:rPr>
              <a:t>How does product demand change over months or seasons?</a:t>
            </a:r>
          </a:p>
          <a:p>
            <a:pPr lvl="0"/>
            <a:r>
              <a:rPr lang="en-IN">
                <a:solidFill>
                  <a:schemeClr val="tx1"/>
                </a:solidFill>
                <a:latin typeface="Times New Roman" panose="02020603050405020304" pitchFamily="18" charset="0"/>
                <a:cs typeface="Times New Roman" panose="02020603050405020304" pitchFamily="18" charset="0"/>
              </a:rPr>
              <a:t>Can we identify anomalies in product sales or revenue performance?</a:t>
            </a:r>
          </a:p>
          <a:p>
            <a:pPr lvl="0"/>
            <a:r>
              <a:rPr lang="en-IN">
                <a:solidFill>
                  <a:schemeClr val="tx1"/>
                </a:solidFill>
                <a:latin typeface="Times New Roman" panose="02020603050405020304" pitchFamily="18" charset="0"/>
                <a:cs typeface="Times New Roman" panose="02020603050405020304" pitchFamily="18" charset="0"/>
              </a:rPr>
              <a:t>Are there any regional trends in supplier distribution and pricing?</a:t>
            </a:r>
          </a:p>
          <a:p>
            <a:pPr lvl="0"/>
            <a:r>
              <a:rPr lang="en-IN">
                <a:solidFill>
                  <a:schemeClr val="tx1"/>
                </a:solidFill>
                <a:latin typeface="Times New Roman" panose="02020603050405020304" pitchFamily="18" charset="0"/>
                <a:cs typeface="Times New Roman" panose="02020603050405020304" pitchFamily="18" charset="0"/>
              </a:rPr>
              <a:t>How are suppliers distributed across different product categories?</a:t>
            </a:r>
          </a:p>
          <a:p>
            <a:pPr lvl="0"/>
            <a:r>
              <a:rPr lang="en-IN">
                <a:solidFill>
                  <a:schemeClr val="tx1"/>
                </a:solidFill>
                <a:latin typeface="Times New Roman" panose="02020603050405020304" pitchFamily="18" charset="0"/>
                <a:cs typeface="Times New Roman" panose="02020603050405020304" pitchFamily="18" charset="0"/>
              </a:rPr>
              <a:t>How do supplier pricing and categories relate across different regions?</a:t>
            </a:r>
          </a:p>
          <a:p>
            <a:endParaRPr lang="en-IN"/>
          </a:p>
        </p:txBody>
      </p:sp>
    </p:spTree>
    <p:extLst>
      <p:ext uri="{BB962C8B-B14F-4D97-AF65-F5344CB8AC3E}">
        <p14:creationId xmlns:p14="http://schemas.microsoft.com/office/powerpoint/2010/main" val="19673528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330F5A-6C6F-920E-2E65-2DBF2C6D9344}"/>
              </a:ext>
            </a:extLst>
          </p:cNvPr>
          <p:cNvPicPr>
            <a:picLocks noChangeAspect="1"/>
          </p:cNvPicPr>
          <p:nvPr/>
        </p:nvPicPr>
        <p:blipFill>
          <a:blip r:embed="rId2"/>
          <a:srcRect r="81484"/>
          <a:stretch>
            <a:fillRect/>
          </a:stretch>
        </p:blipFill>
        <p:spPr>
          <a:xfrm>
            <a:off x="4830239" y="1761315"/>
            <a:ext cx="2013014" cy="990878"/>
          </a:xfrm>
          <a:prstGeom prst="rect">
            <a:avLst/>
          </a:prstGeom>
        </p:spPr>
      </p:pic>
      <p:pic>
        <p:nvPicPr>
          <p:cNvPr id="5" name="Picture 4">
            <a:extLst>
              <a:ext uri="{FF2B5EF4-FFF2-40B4-BE49-F238E27FC236}">
                <a16:creationId xmlns:a16="http://schemas.microsoft.com/office/drawing/2014/main" id="{A9A9BD40-818C-1CD8-DCCA-D9D79D42379C}"/>
              </a:ext>
            </a:extLst>
          </p:cNvPr>
          <p:cNvPicPr>
            <a:picLocks noChangeAspect="1"/>
          </p:cNvPicPr>
          <p:nvPr/>
        </p:nvPicPr>
        <p:blipFill>
          <a:blip r:embed="rId2"/>
          <a:srcRect l="20109" r="60989"/>
          <a:stretch>
            <a:fillRect/>
          </a:stretch>
        </p:blipFill>
        <p:spPr>
          <a:xfrm>
            <a:off x="2379407" y="3233973"/>
            <a:ext cx="2113936" cy="1019317"/>
          </a:xfrm>
          <a:prstGeom prst="rect">
            <a:avLst/>
          </a:prstGeom>
        </p:spPr>
      </p:pic>
      <p:pic>
        <p:nvPicPr>
          <p:cNvPr id="7" name="Picture 6">
            <a:extLst>
              <a:ext uri="{FF2B5EF4-FFF2-40B4-BE49-F238E27FC236}">
                <a16:creationId xmlns:a16="http://schemas.microsoft.com/office/drawing/2014/main" id="{1EB5AFD5-2BDC-8E8A-2FEE-0C651CCC7DD6}"/>
              </a:ext>
            </a:extLst>
          </p:cNvPr>
          <p:cNvPicPr>
            <a:picLocks noChangeAspect="1"/>
          </p:cNvPicPr>
          <p:nvPr/>
        </p:nvPicPr>
        <p:blipFill>
          <a:blip r:embed="rId2"/>
          <a:srcRect l="43138" r="37162"/>
          <a:stretch>
            <a:fillRect/>
          </a:stretch>
        </p:blipFill>
        <p:spPr>
          <a:xfrm>
            <a:off x="7543940" y="539935"/>
            <a:ext cx="2113936" cy="1019317"/>
          </a:xfrm>
          <a:prstGeom prst="rect">
            <a:avLst/>
          </a:prstGeom>
        </p:spPr>
      </p:pic>
      <p:pic>
        <p:nvPicPr>
          <p:cNvPr id="9" name="Picture 8">
            <a:extLst>
              <a:ext uri="{FF2B5EF4-FFF2-40B4-BE49-F238E27FC236}">
                <a16:creationId xmlns:a16="http://schemas.microsoft.com/office/drawing/2014/main" id="{991BA545-8304-0274-1B1C-C850AE6B467A}"/>
              </a:ext>
            </a:extLst>
          </p:cNvPr>
          <p:cNvPicPr>
            <a:picLocks noChangeAspect="1"/>
          </p:cNvPicPr>
          <p:nvPr/>
        </p:nvPicPr>
        <p:blipFill>
          <a:blip r:embed="rId2"/>
          <a:srcRect l="61933" r="20549"/>
          <a:stretch>
            <a:fillRect/>
          </a:stretch>
        </p:blipFill>
        <p:spPr>
          <a:xfrm>
            <a:off x="2534124" y="277702"/>
            <a:ext cx="1959219" cy="1019317"/>
          </a:xfrm>
          <a:prstGeom prst="rect">
            <a:avLst/>
          </a:prstGeom>
        </p:spPr>
      </p:pic>
      <p:pic>
        <p:nvPicPr>
          <p:cNvPr id="11" name="Picture 10">
            <a:extLst>
              <a:ext uri="{FF2B5EF4-FFF2-40B4-BE49-F238E27FC236}">
                <a16:creationId xmlns:a16="http://schemas.microsoft.com/office/drawing/2014/main" id="{8D25AF27-2473-8A57-F27E-3A967D259046}"/>
              </a:ext>
            </a:extLst>
          </p:cNvPr>
          <p:cNvPicPr>
            <a:picLocks noChangeAspect="1"/>
          </p:cNvPicPr>
          <p:nvPr/>
        </p:nvPicPr>
        <p:blipFill>
          <a:blip r:embed="rId2"/>
          <a:srcRect l="79012"/>
          <a:stretch>
            <a:fillRect/>
          </a:stretch>
        </p:blipFill>
        <p:spPr>
          <a:xfrm>
            <a:off x="7543940" y="3182354"/>
            <a:ext cx="2347310" cy="1019317"/>
          </a:xfrm>
          <a:prstGeom prst="rect">
            <a:avLst/>
          </a:prstGeom>
        </p:spPr>
      </p:pic>
    </p:spTree>
    <p:extLst>
      <p:ext uri="{BB962C8B-B14F-4D97-AF65-F5344CB8AC3E}">
        <p14:creationId xmlns:p14="http://schemas.microsoft.com/office/powerpoint/2010/main" val="31635985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D7CFF-BD2E-90A9-7B34-F1A04C6E1596}"/>
              </a:ext>
            </a:extLst>
          </p:cNvPr>
          <p:cNvSpPr>
            <a:spLocks noGrp="1"/>
          </p:cNvSpPr>
          <p:nvPr>
            <p:ph type="title"/>
          </p:nvPr>
        </p:nvSpPr>
        <p:spPr>
          <a:xfrm>
            <a:off x="3720113" y="2629891"/>
            <a:ext cx="4751773" cy="1280890"/>
          </a:xfrm>
        </p:spPr>
        <p:txBody>
          <a:bodyPr>
            <a:normAutofit fontScale="90000"/>
          </a:bodyPr>
          <a:lstStyle/>
          <a:p>
            <a:r>
              <a:rPr lang="en-US" sz="6600" b="1" i="1">
                <a:solidFill>
                  <a:srgbClr val="C00000"/>
                </a:solidFill>
                <a:latin typeface="Times New Roman" panose="02020603050405020304" pitchFamily="18" charset="0"/>
                <a:cs typeface="Times New Roman" panose="02020603050405020304" pitchFamily="18" charset="0"/>
              </a:rPr>
              <a:t>THANK YOU</a:t>
            </a:r>
            <a:endParaRPr lang="en-IN" sz="6600" b="1" i="1">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791801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200</TotalTime>
  <Words>1658</Words>
  <Application>Microsoft Office PowerPoint</Application>
  <PresentationFormat>Widescreen</PresentationFormat>
  <Paragraphs>149</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Century Gothic</vt:lpstr>
      <vt:lpstr>Times New Roman</vt:lpstr>
      <vt:lpstr>Wingdings</vt:lpstr>
      <vt:lpstr>Wingdings 3</vt:lpstr>
      <vt:lpstr>Wisp</vt:lpstr>
      <vt:lpstr>Northwind Traders Business Performance Analysis</vt:lpstr>
      <vt:lpstr>PowerPoint Presentation</vt:lpstr>
      <vt:lpstr>PowerPoint Presentation</vt:lpstr>
      <vt:lpstr>PowerPoint Presentation</vt:lpstr>
      <vt:lpstr>PowerPoint Presentation</vt:lpstr>
      <vt:lpstr>Power BI Problem Statements </vt:lpstr>
      <vt:lpstr>PowerPoint Presentation</vt:lpstr>
      <vt:lpstr>Customer Analysis </vt:lpstr>
      <vt:lpstr>PowerPoint Presentation</vt:lpstr>
      <vt:lpstr>PowerPoint Presentation</vt:lpstr>
      <vt:lpstr>Sales &amp; Orders Analysis </vt:lpstr>
      <vt:lpstr>PowerPoint Presentation</vt:lpstr>
      <vt:lpstr>PowerPoint Presentation</vt:lpstr>
      <vt:lpstr>Product Analysis </vt:lpstr>
      <vt:lpstr>PowerPoint Presentation</vt:lpstr>
      <vt:lpstr>PowerPoint Presentation</vt:lpstr>
      <vt:lpstr>Supplier Analysis </vt:lpstr>
      <vt:lpstr>PowerPoint Presentation</vt:lpstr>
      <vt:lpstr>PowerPoint Presentation</vt:lpstr>
      <vt:lpstr>Employee Analysis </vt:lpstr>
      <vt:lpstr>PowerPoint Presentation</vt:lpstr>
      <vt:lpstr>EDA Problem Statements </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Vishwanath Madawal</dc:creator>
  <cp:lastModifiedBy>Vishwanath Madawal</cp:lastModifiedBy>
  <cp:revision>38</cp:revision>
  <dcterms:created xsi:type="dcterms:W3CDTF">2026-01-16T17:30:08Z</dcterms:created>
  <dcterms:modified xsi:type="dcterms:W3CDTF">2026-01-17T10:09:59Z</dcterms:modified>
</cp:coreProperties>
</file>